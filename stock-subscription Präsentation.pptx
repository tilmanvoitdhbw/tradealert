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7" r:id="rId9"/>
    <p:sldId id="267" r:id="rId10"/>
    <p:sldId id="276" r:id="rId11"/>
    <p:sldId id="268" r:id="rId12"/>
    <p:sldId id="273" r:id="rId13"/>
    <p:sldId id="269" r:id="rId14"/>
    <p:sldId id="274" r:id="rId15"/>
    <p:sldId id="270" r:id="rId16"/>
    <p:sldId id="264" r:id="rId17"/>
    <p:sldId id="265" r:id="rId18"/>
    <p:sldId id="26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>
        <p:scale>
          <a:sx n="165" d="100"/>
          <a:sy n="165" d="100"/>
        </p:scale>
        <p:origin x="1104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6998-3C50-519A-B5C7-6EA22D7B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C7EC-18C1-C343-AAC4-DA7B7A6A5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662AA-1A18-6234-57C8-B68D60DF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C7823-9556-A0FB-E1D7-B7FBE33A9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B711-0A16-6015-DFA1-5A21E398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DC2DB-7924-9444-0111-D5216B9A2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04B01-F323-69E9-1D08-182B5387F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9387-2ED3-C730-847A-DABC49053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6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754A-7D9C-E4CF-956E-CA574156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4FFCF-D1ED-4D15-B86F-AE204D732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0112-66C6-4E87-8F14-F05AC06A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376E6-75BA-2222-5E66-71E1076B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0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766560" y="-1097280"/>
            <a:ext cx="3474720" cy="347472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06640" y="-457200"/>
            <a:ext cx="2194560" cy="2194560"/>
          </a:xfrm>
          <a:prstGeom prst="ellipse">
            <a:avLst/>
          </a:prstGeom>
          <a:solidFill>
            <a:srgbClr val="18305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1792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1792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77824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77824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77824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133856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133856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133856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DHBW MOSBACH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Subscription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Projektarbeit · Web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Hohn  ·  Simon Hopfhauer  ·  Tilman Voit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Idee vorstellen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Technologien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Architektur &amp; Implementierung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Live Demo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3A6E"/>
                </a:solidFill>
              </a:rPr>
              <a:t>2026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Projektarbeit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Web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 abonnieren. Kurse verfolgen. Alerts erhalten.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Abonnieren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Aktien per Name oder Symbol </a:t>
            </a:r>
            <a:r>
              <a:rPr lang="en-US" sz="1200" dirty="0" err="1"/>
              <a:t>suchen</a:t>
            </a:r>
            <a:r>
              <a:rPr lang="en-US" sz="1200" dirty="0"/>
              <a:t> und </a:t>
            </a:r>
            <a:r>
              <a:rPr lang="en-US" sz="1200" dirty="0" err="1"/>
              <a:t>abonnieren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💹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Kurse abrufen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Aktuelle Preise in Echtzeit inklusive Währungsumrechnung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Alerts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/>
              <a:t>Automatische</a:t>
            </a:r>
            <a:r>
              <a:rPr lang="en-US" sz="1200" dirty="0"/>
              <a:t> </a:t>
            </a:r>
            <a:r>
              <a:rPr lang="en-US" sz="1200" dirty="0" err="1"/>
              <a:t>Benachrichtigung</a:t>
            </a:r>
            <a:r>
              <a:rPr lang="en-US" sz="1200" dirty="0"/>
              <a:t> </a:t>
            </a:r>
            <a:r>
              <a:rPr lang="en-US" sz="1200" dirty="0" err="1"/>
              <a:t>durch</a:t>
            </a:r>
            <a:r>
              <a:rPr lang="en-US" sz="1200" dirty="0"/>
              <a:t> </a:t>
            </a:r>
            <a:r>
              <a:rPr lang="en-US" sz="1200" dirty="0" err="1"/>
              <a:t>gesetzte</a:t>
            </a:r>
            <a:r>
              <a:rPr lang="en-US" sz="1200" dirty="0"/>
              <a:t> </a:t>
            </a:r>
            <a:r>
              <a:rPr lang="en-US" sz="1200" dirty="0" err="1"/>
              <a:t>Schwellenwerte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· Ziel &amp; Prinzip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64008" cy="3474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Ziel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332328"/>
            <a:ext cx="356616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Einfache</a:t>
            </a:r>
            <a:r>
              <a:rPr lang="en-US" sz="1400" dirty="0"/>
              <a:t> </a:t>
            </a:r>
            <a:r>
              <a:rPr lang="en-US" sz="1400" dirty="0" err="1"/>
              <a:t>Plattform</a:t>
            </a:r>
            <a:r>
              <a:rPr lang="en-US" sz="1400" dirty="0"/>
              <a:t> </a:t>
            </a:r>
            <a:r>
              <a:rPr lang="en-US" sz="1400" dirty="0" err="1"/>
              <a:t>zur</a:t>
            </a:r>
            <a:r>
              <a:rPr lang="en-US" sz="1400" dirty="0"/>
              <a:t> </a:t>
            </a:r>
            <a:r>
              <a:rPr lang="en-US" sz="1400" dirty="0" err="1"/>
              <a:t>Verfolgung</a:t>
            </a:r>
            <a:r>
              <a:rPr lang="en-US" sz="1400" dirty="0"/>
              <a:t> von </a:t>
            </a:r>
            <a:r>
              <a:rPr lang="en-US" sz="1400" dirty="0" err="1"/>
              <a:t>Aktien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</a:rPr>
              <a:t> 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Kein </a:t>
            </a:r>
            <a:r>
              <a:rPr lang="en-US" sz="1400" dirty="0" err="1"/>
              <a:t>komplexes</a:t>
            </a:r>
            <a:r>
              <a:rPr lang="en-US" sz="1400" dirty="0"/>
              <a:t> Login-System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Eingabe</a:t>
            </a:r>
            <a:r>
              <a:rPr lang="en-US" sz="1400" dirty="0"/>
              <a:t> direkt über Aktienname </a:t>
            </a:r>
            <a:r>
              <a:rPr lang="en-US" sz="1400" dirty="0" err="1"/>
              <a:t>oder</a:t>
            </a:r>
            <a:r>
              <a:rPr lang="en-US" sz="1400" dirty="0"/>
              <a:t> Symbol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64008" cy="347472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Architekturprinzip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136972"/>
            <a:ext cx="3474720" cy="2229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Orchestrator Service </a:t>
            </a:r>
            <a:r>
              <a:rPr lang="en-US" sz="1400" dirty="0" err="1"/>
              <a:t>kontrolliert</a:t>
            </a:r>
            <a:r>
              <a:rPr lang="en-US" sz="1400" dirty="0"/>
              <a:t> alle </a:t>
            </a:r>
            <a:r>
              <a:rPr lang="en-US" sz="1400" dirty="0" err="1"/>
              <a:t>Abläufe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 err="1"/>
              <a:t>Kombination</a:t>
            </a:r>
            <a:r>
              <a:rPr lang="en-US" sz="1400" dirty="0"/>
              <a:t> </a:t>
            </a:r>
            <a:r>
              <a:rPr lang="en-US" sz="1400" dirty="0" err="1"/>
              <a:t>aus</a:t>
            </a:r>
            <a:r>
              <a:rPr lang="en-US" sz="1400" dirty="0"/>
              <a:t> </a:t>
            </a:r>
            <a:r>
              <a:rPr lang="en-US" sz="1400" dirty="0" err="1"/>
              <a:t>internen</a:t>
            </a:r>
            <a:r>
              <a:rPr lang="en-US" sz="1400" dirty="0"/>
              <a:t> &amp; </a:t>
            </a:r>
            <a:r>
              <a:rPr lang="en-US" sz="1400" dirty="0" err="1"/>
              <a:t>externen</a:t>
            </a:r>
            <a:r>
              <a:rPr lang="en-US" sz="1400" dirty="0"/>
              <a:t> Services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altLang="de-DE" sz="1400" dirty="0"/>
              <a:t>Loose Coupling — Services kommunizieren nur über REST, keine direkte Abhängigkeit 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400" dirty="0"/>
              <a:t>Single </a:t>
            </a:r>
            <a:r>
              <a:rPr lang="de-DE" sz="1400" dirty="0" err="1"/>
              <a:t>Responsibility</a:t>
            </a:r>
            <a:r>
              <a:rPr lang="de-DE" sz="1400" dirty="0"/>
              <a:t> — jeder Service hat genau eine Aufgabe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624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941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2.1 Frontend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289304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289304"/>
            <a:ext cx="54864" cy="1555835"/>
          </a:xfrm>
          <a:prstGeom prst="rect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380744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Vue.js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1728217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Wiederverwendbare Logik ausgelagert in separate Module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/>
              <a:t>Reaktive</a:t>
            </a:r>
            <a:r>
              <a:rPr lang="en-US" sz="1200" dirty="0"/>
              <a:t> </a:t>
            </a:r>
            <a:r>
              <a:rPr lang="en-US" sz="1200" dirty="0" err="1"/>
              <a:t>Datenbindung</a:t>
            </a:r>
            <a:r>
              <a:rPr lang="en-US" sz="1200" dirty="0"/>
              <a:t>: UI </a:t>
            </a:r>
            <a:r>
              <a:rPr lang="en-US" sz="1200" dirty="0" err="1"/>
              <a:t>aktualisiert</a:t>
            </a:r>
            <a:r>
              <a:rPr lang="en-US" sz="1200" dirty="0"/>
              <a:t> </a:t>
            </a:r>
            <a:r>
              <a:rPr lang="en-US" sz="1200" dirty="0" err="1"/>
              <a:t>sich</a:t>
            </a:r>
            <a:r>
              <a:rPr lang="en-US" sz="1200" dirty="0"/>
              <a:t> </a:t>
            </a:r>
            <a:r>
              <a:rPr lang="en-US" sz="1200" dirty="0" err="1"/>
              <a:t>ohne</a:t>
            </a:r>
            <a:r>
              <a:rPr lang="en-US" sz="1200" dirty="0"/>
              <a:t> </a:t>
            </a:r>
            <a:r>
              <a:rPr lang="en-US" sz="1200" dirty="0" err="1"/>
              <a:t>Seitenreload</a:t>
            </a: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" y="2084832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1289303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36592" y="1289303"/>
            <a:ext cx="54864" cy="155583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01184" y="1380743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01184" y="172821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Asynchrone Kommunikation — UI bleibt während Serveranfragen reaktionsfähig</a:t>
            </a: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endParaRPr lang="en-US" altLang="de-DE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altLang="de-DE" sz="1200" dirty="0" err="1"/>
              <a:t>Timer</a:t>
            </a:r>
            <a:r>
              <a:rPr lang="de-DE" altLang="de-DE" sz="1200" dirty="0"/>
              <a:t> für automatisches Polling alle 5 Sekunden 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5776" y="2084831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54864" cy="1555835"/>
          </a:xfrm>
          <a:prstGeom prst="rect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282695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HTML &amp; CSS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675888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Modernes UI-Design passend zum Finanzkontext 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Klare Trennung von Struktur (HTML) und Darstellung (CSS) 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3986784"/>
            <a:ext cx="3803904" cy="34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191255"/>
            <a:ext cx="4224528" cy="155584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36592" y="3191255"/>
            <a:ext cx="54864" cy="1555841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01184" y="3282696"/>
            <a:ext cx="3968496" cy="38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Fetch API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01184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65776" y="3675888"/>
            <a:ext cx="3803904" cy="107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Browser-native Schnittstelle für </a:t>
            </a:r>
            <a:r>
              <a:rPr lang="en-US" sz="1200" dirty="0" err="1"/>
              <a:t>asynchrone</a:t>
            </a:r>
            <a:r>
              <a:rPr lang="en-US" sz="1200" dirty="0"/>
              <a:t> REST-</a:t>
            </a:r>
            <a:r>
              <a:rPr lang="en-US" sz="1200" dirty="0" err="1"/>
              <a:t>Aufrufe</a:t>
            </a: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/>
              <a:t>Kommuniziert</a:t>
            </a:r>
            <a:r>
              <a:rPr lang="en-US" sz="1200" dirty="0"/>
              <a:t> </a:t>
            </a:r>
            <a:r>
              <a:rPr lang="en-US" sz="1200" dirty="0" err="1"/>
              <a:t>ausschließlich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dem Orchestrator </a:t>
            </a:r>
          </a:p>
        </p:txBody>
      </p:sp>
      <p:sp>
        <p:nvSpPr>
          <p:cNvPr id="38" name="Text 36"/>
          <p:cNvSpPr/>
          <p:nvPr/>
        </p:nvSpPr>
        <p:spPr>
          <a:xfrm>
            <a:off x="5065776" y="3986784"/>
            <a:ext cx="3803904" cy="3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A444AF02-467C-AC6E-95B2-3A5D6A65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2.2 Backend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407494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407494"/>
            <a:ext cx="54864" cy="1549292"/>
          </a:xfrm>
          <a:prstGeom prst="rect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498933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Quarkus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184640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892126"/>
            <a:ext cx="3803904" cy="105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Schnelle </a:t>
            </a:r>
            <a:r>
              <a:rPr lang="en-US" sz="1200" dirty="0" err="1"/>
              <a:t>Startzeiten</a:t>
            </a:r>
            <a:r>
              <a:rPr lang="en-US" sz="1200" dirty="0"/>
              <a:t> und </a:t>
            </a:r>
            <a:r>
              <a:rPr lang="en-US" sz="1200" dirty="0" err="1"/>
              <a:t>geringer</a:t>
            </a:r>
            <a:r>
              <a:rPr lang="en-US" sz="1200" dirty="0"/>
              <a:t> </a:t>
            </a:r>
            <a:r>
              <a:rPr lang="en-US" sz="1200" dirty="0" err="1"/>
              <a:t>Speicherbedarf</a:t>
            </a: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Einfache REST-Endpoints via @Path, @GET, @POST</a:t>
            </a:r>
          </a:p>
        </p:txBody>
      </p:sp>
      <p:sp>
        <p:nvSpPr>
          <p:cNvPr id="14" name="Text 12"/>
          <p:cNvSpPr/>
          <p:nvPr/>
        </p:nvSpPr>
        <p:spPr>
          <a:xfrm>
            <a:off x="603504" y="2203022"/>
            <a:ext cx="3803904" cy="3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de-DE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407496"/>
            <a:ext cx="4224528" cy="15492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73168" y="1407496"/>
            <a:ext cx="54864" cy="154929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37760" y="1498935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REST - </a:t>
            </a:r>
            <a:r>
              <a:rPr lang="en-US" sz="1600" b="1" dirty="0" err="1">
                <a:solidFill>
                  <a:srgbClr val="1A1A2E"/>
                </a:solidFill>
              </a:rPr>
              <a:t>Kommunikation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84640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102352" y="1892127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Services kommunizieren ausschließlich über HTTP/JSON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sz="120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sz="1200" dirty="0" err="1"/>
              <a:t>Orchestrator</a:t>
            </a:r>
            <a:r>
              <a:rPr lang="de-DE" sz="1200" dirty="0"/>
              <a:t> als einziger Einstiegspunkt — interne Services nicht von außen erreichbar</a:t>
            </a:r>
          </a:p>
        </p:txBody>
      </p:sp>
      <p:sp>
        <p:nvSpPr>
          <p:cNvPr id="22" name="Text 20"/>
          <p:cNvSpPr/>
          <p:nvPr/>
        </p:nvSpPr>
        <p:spPr>
          <a:xfrm>
            <a:off x="5102352" y="2203023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1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273551"/>
            <a:ext cx="54864" cy="154929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364990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Docker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12" y="3712463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758182"/>
            <a:ext cx="3803904" cy="1064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Jeder Service läuft in einem </a:t>
            </a:r>
            <a:r>
              <a:rPr lang="en-US" sz="1200" dirty="0" err="1"/>
              <a:t>eigenen</a:t>
            </a:r>
            <a:r>
              <a:rPr lang="en-US" sz="1200" dirty="0"/>
              <a:t> Container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Docker-compose </a:t>
            </a:r>
            <a:r>
              <a:rPr lang="en-US" sz="1200" dirty="0" err="1"/>
              <a:t>orchestriert</a:t>
            </a:r>
            <a:r>
              <a:rPr lang="en-US" sz="1200" dirty="0"/>
              <a:t> alle Services + PostgreSQL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4069078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273552"/>
            <a:ext cx="4224528" cy="154929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73168" y="3273552"/>
            <a:ext cx="54864" cy="1549291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37760" y="3364992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37760" y="3712465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102352" y="3758184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Persistente Speicherung von Abonnements und </a:t>
            </a:r>
            <a:r>
              <a:rPr lang="en-US" sz="1200" dirty="0" err="1"/>
              <a:t>ausgelösten</a:t>
            </a:r>
            <a:r>
              <a:rPr lang="en-US" sz="1200" dirty="0"/>
              <a:t> Alerts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Transaktionssicherheit durch @</a:t>
            </a:r>
            <a:r>
              <a:rPr lang="de-DE" altLang="de-DE" sz="1200" dirty="0" err="1"/>
              <a:t>Transactional</a:t>
            </a:r>
            <a:r>
              <a:rPr lang="de-DE" altLang="de-DE" sz="1200" dirty="0"/>
              <a:t> </a:t>
            </a:r>
          </a:p>
        </p:txBody>
      </p:sp>
      <p:sp>
        <p:nvSpPr>
          <p:cNvPr id="38" name="Text 36"/>
          <p:cNvSpPr/>
          <p:nvPr/>
        </p:nvSpPr>
        <p:spPr>
          <a:xfrm>
            <a:off x="5102352" y="4069080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Interne Web-Services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36592" y="1366364"/>
            <a:ext cx="4224528" cy="15537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36592" y="1366364"/>
            <a:ext cx="54864" cy="1553716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01184" y="1457803"/>
            <a:ext cx="2743200" cy="38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Stock-Service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01184" y="180527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65776" y="1850995"/>
            <a:ext cx="3803904" cy="108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Wandelt Sucheingaben in </a:t>
            </a:r>
            <a:r>
              <a:rPr lang="en-US" sz="1200" dirty="0" err="1"/>
              <a:t>Börsensymbole</a:t>
            </a:r>
            <a:r>
              <a:rPr lang="en-US" sz="1200" dirty="0"/>
              <a:t> um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/>
              <a:t>Ruft</a:t>
            </a:r>
            <a:r>
              <a:rPr lang="en-US" sz="1200" dirty="0"/>
              <a:t> Live-</a:t>
            </a:r>
            <a:r>
              <a:rPr lang="en-US" sz="1200" dirty="0" err="1"/>
              <a:t>Kurse</a:t>
            </a:r>
            <a:r>
              <a:rPr lang="en-US" sz="1200" dirty="0"/>
              <a:t> von </a:t>
            </a:r>
            <a:r>
              <a:rPr lang="en-US" sz="1200" dirty="0" err="1"/>
              <a:t>AlphaVantage</a:t>
            </a:r>
            <a:r>
              <a:rPr lang="en-US" sz="1200" dirty="0"/>
              <a:t> ab</a:t>
            </a:r>
          </a:p>
        </p:txBody>
      </p:sp>
      <p:sp>
        <p:nvSpPr>
          <p:cNvPr id="26" name="Text 24"/>
          <p:cNvSpPr/>
          <p:nvPr/>
        </p:nvSpPr>
        <p:spPr>
          <a:xfrm>
            <a:off x="5065776" y="2161891"/>
            <a:ext cx="3803904" cy="33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356960"/>
            <a:ext cx="4224528" cy="1578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74320" y="1356960"/>
            <a:ext cx="54864" cy="15782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" y="1448400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Subscription-Service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12" y="1795872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03504" y="1841591"/>
            <a:ext cx="3803904" cy="107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Speichert Portfolios in PostgreSQL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Speichert Einstiegspreis, oberes und unteres Limit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" y="2152487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736592" y="3230976"/>
            <a:ext cx="54864" cy="157826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901184" y="3322416"/>
            <a:ext cx="2743200" cy="39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Alert-Service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01184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065776" y="3715608"/>
            <a:ext cx="3803904" cy="10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Vergleicht Live-Kurse mit </a:t>
            </a:r>
            <a:r>
              <a:rPr lang="en-US" sz="1200" dirty="0" err="1"/>
              <a:t>gesetzten</a:t>
            </a:r>
            <a:r>
              <a:rPr lang="en-US" sz="1200" dirty="0"/>
              <a:t> Limits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Erstellt und speichert Alerts bei Grenzüberschreitung </a:t>
            </a:r>
          </a:p>
        </p:txBody>
      </p:sp>
      <p:sp>
        <p:nvSpPr>
          <p:cNvPr id="46" name="Text 44"/>
          <p:cNvSpPr/>
          <p:nvPr/>
        </p:nvSpPr>
        <p:spPr>
          <a:xfrm>
            <a:off x="5065776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274320" y="3230976"/>
            <a:ext cx="54864" cy="15782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438912" y="3322417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Currency-Service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8912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03504" y="3715608"/>
            <a:ext cx="3803904" cy="1093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Wrappt die externe </a:t>
            </a:r>
            <a:r>
              <a:rPr lang="en-US" sz="1200" dirty="0" err="1"/>
              <a:t>Währungs</a:t>
            </a:r>
            <a:r>
              <a:rPr lang="en-US" sz="1200" dirty="0"/>
              <a:t>-API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Liefert den aktuellen USD→EUR Wechselkurs </a:t>
            </a:r>
          </a:p>
        </p:txBody>
      </p:sp>
      <p:sp>
        <p:nvSpPr>
          <p:cNvPr id="56" name="Text 54"/>
          <p:cNvSpPr/>
          <p:nvPr/>
        </p:nvSpPr>
        <p:spPr>
          <a:xfrm>
            <a:off x="603504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4E12F-1280-06A0-9CB9-F1B0200C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862068-D14E-DDFC-A4AF-9DDD25AB54F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A62C8-78CF-73F6-C5C0-9EA1AD564C31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35C68D-C8BC-B025-0795-4C656B204C9B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60C42F-4436-7373-1433-DB62F76D02F0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4FEF3C-E0FD-1B7F-429D-EDF4BF766E0A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Interne Web-Services</a:t>
            </a:r>
            <a:endParaRPr lang="en-US" sz="2400" dirty="0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B8D69722-83A1-047B-68EA-294E2CE15A36}"/>
              </a:ext>
            </a:extLst>
          </p:cNvPr>
          <p:cNvSpPr/>
          <p:nvPr/>
        </p:nvSpPr>
        <p:spPr>
          <a:xfrm>
            <a:off x="2127844" y="1143000"/>
            <a:ext cx="4888311" cy="37830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8629DEA3-A6EE-5F86-7B18-3B96ABC858B8}"/>
              </a:ext>
            </a:extLst>
          </p:cNvPr>
          <p:cNvSpPr/>
          <p:nvPr/>
        </p:nvSpPr>
        <p:spPr>
          <a:xfrm>
            <a:off x="2127844" y="1142999"/>
            <a:ext cx="4888311" cy="696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3BC97FEA-E6DA-0EFC-FCC8-80A490C59940}"/>
              </a:ext>
            </a:extLst>
          </p:cNvPr>
          <p:cNvSpPr/>
          <p:nvPr/>
        </p:nvSpPr>
        <p:spPr>
          <a:xfrm>
            <a:off x="2219285" y="1216151"/>
            <a:ext cx="698330" cy="547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0BCD3CC1-F061-4FA3-DADB-80EF341DF651}"/>
              </a:ext>
            </a:extLst>
          </p:cNvPr>
          <p:cNvSpPr/>
          <p:nvPr/>
        </p:nvSpPr>
        <p:spPr>
          <a:xfrm>
            <a:off x="2292436" y="1763694"/>
            <a:ext cx="45574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00079FA4-452C-2C10-E1E4-798A7E7D9628}"/>
              </a:ext>
            </a:extLst>
          </p:cNvPr>
          <p:cNvSpPr/>
          <p:nvPr/>
        </p:nvSpPr>
        <p:spPr>
          <a:xfrm>
            <a:off x="2292804" y="3481301"/>
            <a:ext cx="4557435" cy="22601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36D4F649-5694-D96F-0CF0-5DDC47FA703B}"/>
              </a:ext>
            </a:extLst>
          </p:cNvPr>
          <p:cNvSpPr/>
          <p:nvPr/>
        </p:nvSpPr>
        <p:spPr>
          <a:xfrm>
            <a:off x="2265373" y="3088112"/>
            <a:ext cx="1611531" cy="29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1C63747A-24D5-14EE-2074-752D80711494}"/>
              </a:ext>
            </a:extLst>
          </p:cNvPr>
          <p:cNvSpPr/>
          <p:nvPr/>
        </p:nvSpPr>
        <p:spPr>
          <a:xfrm>
            <a:off x="2292805" y="3417295"/>
            <a:ext cx="4694927" cy="27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CA8FD7DD-AA4E-12E0-04EA-F61E37CCDA87}"/>
              </a:ext>
            </a:extLst>
          </p:cNvPr>
          <p:cNvSpPr txBox="1"/>
          <p:nvPr/>
        </p:nvSpPr>
        <p:spPr>
          <a:xfrm>
            <a:off x="2310725" y="1304903"/>
            <a:ext cx="4539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A1A2E"/>
                </a:solidFill>
              </a:rPr>
              <a:t>Stock-Subscription-Service</a:t>
            </a:r>
            <a:endParaRPr lang="de-DE" sz="16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02277C40-F2A7-5865-15E2-62191CA521F2}"/>
              </a:ext>
            </a:extLst>
          </p:cNvPr>
          <p:cNvSpPr txBox="1"/>
          <p:nvPr/>
        </p:nvSpPr>
        <p:spPr>
          <a:xfrm>
            <a:off x="2311094" y="3618983"/>
            <a:ext cx="4619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Läuft automatisch alle 10 Sekunden im Hintergrund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Holt Kurse, prüft Schwellenwerte und löst Alerts aus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Setzt überschrittene Limits automatisch zurück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028E438-CA8F-E180-5455-339B218DA141}"/>
              </a:ext>
            </a:extLst>
          </p:cNvPr>
          <p:cNvSpPr txBox="1"/>
          <p:nvPr/>
        </p:nvSpPr>
        <p:spPr>
          <a:xfrm>
            <a:off x="2265004" y="1970741"/>
            <a:ext cx="4539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 err="1"/>
              <a:t>Orchestrator</a:t>
            </a:r>
            <a:r>
              <a:rPr lang="de-DE" altLang="de-DE" sz="1200" dirty="0"/>
              <a:t>: bündelt alle internen Services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Stellt angereicherte Daten bereit (z.B. aktueller Kurs)</a:t>
            </a:r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170D39E5-C3A8-A630-7B1B-97888D41A775}"/>
              </a:ext>
            </a:extLst>
          </p:cNvPr>
          <p:cNvSpPr/>
          <p:nvPr/>
        </p:nvSpPr>
        <p:spPr>
          <a:xfrm>
            <a:off x="2131993" y="2879257"/>
            <a:ext cx="4896609" cy="4571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D77785BC-6B27-4E2E-AAF7-969DC42A7B51}"/>
              </a:ext>
            </a:extLst>
          </p:cNvPr>
          <p:cNvSpPr txBox="1"/>
          <p:nvPr/>
        </p:nvSpPr>
        <p:spPr>
          <a:xfrm>
            <a:off x="2385940" y="3071937"/>
            <a:ext cx="449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MonitoringJob</a:t>
            </a:r>
            <a:r>
              <a:rPr lang="de-DE" sz="1400" b="1" dirty="0"/>
              <a:t> (Teil des </a:t>
            </a:r>
            <a:r>
              <a:rPr lang="de-DE" sz="1400" b="1" dirty="0" err="1"/>
              <a:t>Orchestrators</a:t>
            </a:r>
            <a:r>
              <a:rPr lang="de-DE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42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3.2 Externe Web-Services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/>
              <a:t>Fremdanbieter-APIs — werden ausschließlich von internen Services angesprochen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106" y="1389888"/>
            <a:ext cx="4160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70106" y="1389888"/>
            <a:ext cx="416052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1546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AlphaVantage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1626" y="18013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986" y="2148840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Aktienkurse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1428" y="2564903"/>
            <a:ext cx="4754880" cy="101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Liefert Live-Aktienkurse in USD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 </a:t>
            </a:r>
            <a:r>
              <a:rPr lang="en-US" sz="1100" dirty="0" err="1"/>
              <a:t>Kursabfrage</a:t>
            </a:r>
            <a:r>
              <a:rPr lang="en-US" sz="1100" dirty="0"/>
              <a:t> </a:t>
            </a:r>
            <a:r>
              <a:rPr lang="en-US" sz="1100" dirty="0" err="1"/>
              <a:t>durch</a:t>
            </a:r>
            <a:r>
              <a:rPr lang="en-US" sz="1100" dirty="0"/>
              <a:t> den User</a:t>
            </a:r>
          </a:p>
          <a:p>
            <a:r>
              <a:rPr lang="en-US" sz="1100" dirty="0"/>
              <a:t>→  Bei Timer-</a:t>
            </a:r>
            <a:r>
              <a:rPr lang="en-US" sz="1100" dirty="0" err="1"/>
              <a:t>Anfrage</a:t>
            </a:r>
            <a:r>
              <a:rPr lang="en-US" sz="1100" dirty="0"/>
              <a:t> </a:t>
            </a:r>
            <a:r>
              <a:rPr lang="en-US" sz="1100" dirty="0" err="1"/>
              <a:t>vom</a:t>
            </a:r>
            <a:r>
              <a:rPr lang="en-US" sz="1100" dirty="0"/>
              <a:t> </a:t>
            </a:r>
            <a:r>
              <a:rPr lang="en-US" sz="1100" dirty="0" err="1"/>
              <a:t>MonitoringJob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426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426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2986" y="3575304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7266" y="364845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7266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Symbolumwandlung</a:t>
            </a:r>
            <a:endParaRPr lang="en-US" sz="1200" b="1" dirty="0"/>
          </a:p>
        </p:txBody>
      </p:sp>
      <p:sp>
        <p:nvSpPr>
          <p:cNvPr id="22" name="Text 20"/>
          <p:cNvSpPr/>
          <p:nvPr/>
        </p:nvSpPr>
        <p:spPr>
          <a:xfrm>
            <a:off x="591428" y="3977640"/>
            <a:ext cx="3995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1A2E"/>
                </a:solidFill>
              </a:rPr>
              <a:t>Wandelt</a:t>
            </a:r>
            <a:r>
              <a:rPr lang="en-US" sz="1100" dirty="0">
                <a:solidFill>
                  <a:srgbClr val="1A1A2E"/>
                </a:solidFill>
              </a:rPr>
              <a:t> </a:t>
            </a:r>
            <a:r>
              <a:rPr lang="en-US" sz="1100" dirty="0" err="1">
                <a:solidFill>
                  <a:srgbClr val="1A1A2E"/>
                </a:solidFill>
              </a:rPr>
              <a:t>Suche</a:t>
            </a:r>
            <a:r>
              <a:rPr lang="en-US" sz="1100" dirty="0">
                <a:solidFill>
                  <a:srgbClr val="1A1A2E"/>
                </a:solidFill>
              </a:rPr>
              <a:t> in Symbol um: "Apple" → "AAPL”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Beim Suchen </a:t>
            </a:r>
            <a:r>
              <a:rPr lang="en-US" sz="1100" dirty="0" err="1"/>
              <a:t>einer</a:t>
            </a:r>
            <a:r>
              <a:rPr lang="en-US" sz="1100" dirty="0"/>
              <a:t> </a:t>
            </a:r>
            <a:r>
              <a:rPr lang="en-US" sz="1100" dirty="0" err="1"/>
              <a:t>Aktie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1" y="1389888"/>
            <a:ext cx="4160519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617721" y="1389888"/>
            <a:ext cx="4160519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2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22066" y="1591056"/>
            <a:ext cx="41518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Currency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1" y="2148840"/>
            <a:ext cx="380390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WECHSELKURS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599" y="2587751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Holt den </a:t>
            </a:r>
            <a:r>
              <a:rPr lang="en-US" sz="1100" dirty="0" err="1">
                <a:solidFill>
                  <a:srgbClr val="1A1A2E"/>
                </a:solidFill>
              </a:rPr>
              <a:t>aktuellen</a:t>
            </a:r>
            <a:r>
              <a:rPr lang="en-US" sz="1100" dirty="0">
                <a:solidFill>
                  <a:srgbClr val="1A1A2E"/>
                </a:solidFill>
              </a:rPr>
              <a:t> USD → EUR Kurs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  <a:p>
            <a:r>
              <a:rPr lang="en-US" sz="1100" dirty="0"/>
              <a:t>→  Beim Start der Frontend-</a:t>
            </a:r>
            <a:r>
              <a:rPr lang="en-US" sz="1100" dirty="0" err="1"/>
              <a:t>Seite</a:t>
            </a:r>
            <a:endParaRPr lang="en-US" sz="1100" dirty="0"/>
          </a:p>
          <a:p>
            <a:r>
              <a:rPr lang="en-US" sz="1100" dirty="0"/>
              <a:t>→  Beim </a:t>
            </a:r>
            <a:r>
              <a:rPr lang="en-US" sz="1100" dirty="0" err="1"/>
              <a:t>Abfrage</a:t>
            </a:r>
            <a:r>
              <a:rPr lang="en-US" sz="1100" dirty="0"/>
              <a:t> des </a:t>
            </a:r>
            <a:r>
              <a:rPr lang="en-US" sz="1100" dirty="0" err="1"/>
              <a:t>Kurspreises</a:t>
            </a:r>
            <a:r>
              <a:rPr lang="en-US" sz="1100" dirty="0"/>
              <a:t> </a:t>
            </a:r>
            <a:r>
              <a:rPr lang="en-US" sz="1100" dirty="0" err="1"/>
              <a:t>einer</a:t>
            </a:r>
            <a:r>
              <a:rPr lang="en-US" sz="1100" dirty="0"/>
              <a:t> </a:t>
            </a:r>
            <a:r>
              <a:rPr lang="en-US" sz="1100" dirty="0" err="1"/>
              <a:t>Aktie</a:t>
            </a:r>
            <a:endParaRPr lang="en-US" sz="1100" dirty="0"/>
          </a:p>
          <a:p>
            <a:r>
              <a:rPr lang="en-US" sz="1100" dirty="0"/>
              <a:t>→  </a:t>
            </a:r>
            <a:r>
              <a:rPr lang="en-US" sz="1100" dirty="0" err="1"/>
              <a:t>Portfoliowerte</a:t>
            </a:r>
            <a:r>
              <a:rPr lang="en-US" sz="1100" dirty="0"/>
              <a:t> live </a:t>
            </a:r>
            <a:r>
              <a:rPr lang="en-US" sz="1100" dirty="0" err="1"/>
              <a:t>umrechnen</a:t>
            </a: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2" y="29626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2" y="32735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4.1 Überblick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/>
              <a:t>Orchestrator als </a:t>
            </a:r>
            <a:r>
              <a:rPr lang="en-US" sz="1600" b="1" dirty="0" err="1"/>
              <a:t>zentraler</a:t>
            </a:r>
            <a:r>
              <a:rPr lang="en-US" sz="1600" b="1" dirty="0"/>
              <a:t> Composite-Service</a:t>
            </a:r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54864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989320" y="182880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126480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📥  Request vom Nutzer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Gateway routet zu Abonnieren oder Kündigen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69748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🏠  Erstes Laden der Seite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3044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Startet automatisch die Währungsumrechnung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56616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989320" y="3566160"/>
            <a:ext cx="45720" cy="749808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12648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⏱️  Timer-Event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Minütlich getriggerte Kursüberwachung</a:t>
            </a:r>
            <a:endParaRPr lang="en-US" sz="950" dirty="0"/>
          </a:p>
        </p:txBody>
      </p:sp>
      <p:pic>
        <p:nvPicPr>
          <p:cNvPr id="27" name="Grafik 2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EE87AAE-8295-690A-B57C-84D06D80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22" y="1596336"/>
            <a:ext cx="4840396" cy="3025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599" y="1051560"/>
            <a:ext cx="8549639" cy="89996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 abonnieren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Eingabe → Symbol-Suche → Kursprüfung → DB-Speicherung</a:t>
            </a:r>
            <a:endParaRPr lang="en-US" sz="950" dirty="0"/>
          </a:p>
        </p:txBody>
      </p:sp>
      <p:pic>
        <p:nvPicPr>
          <p:cNvPr id="12" name="Grafik 11" descr="Ein Bild, das Diagramm, Reihe, parallel, Plan enthält.&#10;&#10;KI-generierte Inhalte können fehlerhaft sein.">
            <a:extLst>
              <a:ext uri="{FF2B5EF4-FFF2-40B4-BE49-F238E27FC236}">
                <a16:creationId xmlns:a16="http://schemas.microsoft.com/office/drawing/2014/main" id="{55E6DAAF-FEB0-A18B-79AE-FB3F4A1A4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718569"/>
            <a:ext cx="7782128" cy="30953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48F8-E7D2-D3EE-B5AD-413151C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AA911-584D-776E-074B-7757E3D1E4B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347BE-4907-3C58-9409-C130DB9E58A7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776D32-B675-F060-D977-4AB51EE57FB7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13B7CC-81D5-057F-96B8-972FA6CF0318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079518-0146-DE9C-718E-8E21106CB18E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F359F1-32B8-2D5B-42A8-9CB5F63101C9}"/>
              </a:ext>
            </a:extLst>
          </p:cNvPr>
          <p:cNvSpPr/>
          <p:nvPr/>
        </p:nvSpPr>
        <p:spPr>
          <a:xfrm>
            <a:off x="365760" y="1005840"/>
            <a:ext cx="8412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71EE906-F098-1F9D-787B-301C15531EC1}"/>
              </a:ext>
            </a:extLst>
          </p:cNvPr>
          <p:cNvSpPr/>
          <p:nvPr/>
        </p:nvSpPr>
        <p:spPr>
          <a:xfrm>
            <a:off x="365760" y="1005840"/>
            <a:ext cx="8412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BA93C9-BA41-C9C3-B31A-C265CC654508}"/>
              </a:ext>
            </a:extLst>
          </p:cNvPr>
          <p:cNvSpPr/>
          <p:nvPr/>
        </p:nvSpPr>
        <p:spPr>
          <a:xfrm>
            <a:off x="457200" y="1069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Abonnement kündigen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569A94D-EB4B-5BC8-CA53-226F7DF3A929}"/>
              </a:ext>
            </a:extLst>
          </p:cNvPr>
          <p:cNvSpPr/>
          <p:nvPr/>
        </p:nvSpPr>
        <p:spPr>
          <a:xfrm>
            <a:off x="457199" y="1380744"/>
            <a:ext cx="3980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 err="1"/>
              <a:t>Löschanfrage</a:t>
            </a:r>
            <a:r>
              <a:rPr lang="en-US" sz="950" i="1" dirty="0"/>
              <a:t> → </a:t>
            </a:r>
            <a:r>
              <a:rPr lang="en-US" sz="950" i="1" dirty="0" err="1"/>
              <a:t>Bestätigungs</a:t>
            </a:r>
            <a:r>
              <a:rPr lang="en-US" sz="950" i="1" dirty="0"/>
              <a:t>-Fenster → DB-Löschung → Alert-Cache löschen</a:t>
            </a:r>
            <a:endParaRPr lang="en-US" sz="950" dirty="0"/>
          </a:p>
        </p:txBody>
      </p:sp>
      <p:pic>
        <p:nvPicPr>
          <p:cNvPr id="8" name="Grafik 7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BED2EC3A-BA92-0145-8AC6-13775C3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695493"/>
            <a:ext cx="7898860" cy="3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71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54964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Aktienkurs abrufen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API-Anfrage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bei Rate-Limit</a:t>
            </a:r>
            <a:endParaRPr lang="en-US" sz="9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C81D292-0814-4592-81F9-D44581B76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936296"/>
            <a:ext cx="7772400" cy="21715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72B3-3706-E56A-95E7-588D9FD1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F0EDA7-3EE8-EDD6-1480-4882A9B952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D73105-70D7-BDCA-D544-14B54C34084F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D12594-3678-762B-3016-0606A1515DA2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2C52DF-4A33-4B24-1D19-FA8E80E0969C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3CF51D-BDA6-C934-AC2A-DAEBD48DEFC6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FB16AC9-0B7E-4D9D-7EEF-B772B25429E6}"/>
              </a:ext>
            </a:extLst>
          </p:cNvPr>
          <p:cNvSpPr/>
          <p:nvPr/>
        </p:nvSpPr>
        <p:spPr>
          <a:xfrm>
            <a:off x="220980" y="1074420"/>
            <a:ext cx="85572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4A38609-A1FA-A413-B5C8-5078B356C48C}"/>
              </a:ext>
            </a:extLst>
          </p:cNvPr>
          <p:cNvSpPr/>
          <p:nvPr/>
        </p:nvSpPr>
        <p:spPr>
          <a:xfrm>
            <a:off x="220980" y="1074420"/>
            <a:ext cx="85572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51246E-29BB-5CEB-0F13-73BC9612DD5D}"/>
              </a:ext>
            </a:extLst>
          </p:cNvPr>
          <p:cNvSpPr/>
          <p:nvPr/>
        </p:nvSpPr>
        <p:spPr>
          <a:xfrm>
            <a:off x="312420" y="11384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Währungsumrechnung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5BAE136-8C0C-4FA5-6E82-01A1969A937D}"/>
              </a:ext>
            </a:extLst>
          </p:cNvPr>
          <p:cNvSpPr/>
          <p:nvPr/>
        </p:nvSpPr>
        <p:spPr>
          <a:xfrm>
            <a:off x="312419" y="1449324"/>
            <a:ext cx="6030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/>
              <a:t>Seitenstart → API-</a:t>
            </a:r>
            <a:r>
              <a:rPr lang="en-US" sz="950" i="1" dirty="0" err="1"/>
              <a:t>Anfrage</a:t>
            </a:r>
            <a:r>
              <a:rPr lang="en-US" sz="950" i="1" dirty="0"/>
              <a:t>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</a:t>
            </a:r>
            <a:r>
              <a:rPr lang="en-US" sz="950" i="1" dirty="0" err="1"/>
              <a:t>bei</a:t>
            </a:r>
            <a:r>
              <a:rPr lang="en-US" sz="950" i="1" dirty="0"/>
              <a:t> Fehler</a:t>
            </a:r>
            <a:r>
              <a:rPr lang="en-US" sz="950" dirty="0"/>
              <a:t> </a:t>
            </a:r>
            <a:r>
              <a:rPr lang="en-US" sz="950" i="1" dirty="0"/>
              <a:t>→ Preise in EUR</a:t>
            </a:r>
            <a:endParaRPr lang="en-US" sz="950" dirty="0"/>
          </a:p>
        </p:txBody>
      </p:sp>
      <p:pic>
        <p:nvPicPr>
          <p:cNvPr id="8" name="Grafik 7" descr="Ein Bild, das Diagramm, Tex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A1C7547-9A6C-7095-C6CA-C6D66224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3" y="1705356"/>
            <a:ext cx="6506994" cy="3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686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Automatische Kursüberwachung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/>
              <a:t>Timer-getriggert → alle Nutzer → alle Aktien → Limit </a:t>
            </a:r>
            <a:r>
              <a:rPr lang="en-US" sz="1000" i="1" dirty="0" err="1"/>
              <a:t>Prüfung</a:t>
            </a:r>
            <a:r>
              <a:rPr lang="en-US" sz="1000" i="1" dirty="0"/>
              <a:t> → ggf. </a:t>
            </a:r>
            <a:r>
              <a:rPr lang="en-US" sz="1000" i="1" dirty="0" err="1"/>
              <a:t>Benachrichtigung</a:t>
            </a:r>
            <a:r>
              <a:rPr lang="en-US" sz="1000" i="1" dirty="0"/>
              <a:t> &amp; </a:t>
            </a:r>
            <a:r>
              <a:rPr lang="en-US" sz="1000" i="1" dirty="0" err="1"/>
              <a:t>neue</a:t>
            </a:r>
            <a:r>
              <a:rPr lang="en-US" sz="1000" i="1" dirty="0"/>
              <a:t> Limits </a:t>
            </a:r>
            <a:r>
              <a:rPr lang="en-US" sz="1000" i="1" dirty="0" err="1"/>
              <a:t>setzen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228600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01752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⏱️ Timer-Event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1752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Minütlich getriggert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93392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993392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2066544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👥 Nutzer ermitteln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66544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Subscription-Service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58184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3758184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3831336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📊 Kurs abfragen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31336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Stock-Service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22976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522976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5596128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🔔 Limit-Check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96128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Alert-Service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87768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7287768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7360920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📨 Benachrichtigung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60920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Bei Überschreitung</a:t>
            </a:r>
            <a:endParaRPr lang="en-US" sz="900" dirty="0"/>
          </a:p>
        </p:txBody>
      </p:sp>
      <p:pic>
        <p:nvPicPr>
          <p:cNvPr id="32" name="Grafik 31" descr="Ein Bild, das Diagramm, Reihe, Rechteck, Plan enthält.&#10;&#10;KI-generierte Inhalte können fehlerhaft sein.">
            <a:extLst>
              <a:ext uri="{FF2B5EF4-FFF2-40B4-BE49-F238E27FC236}">
                <a16:creationId xmlns:a16="http://schemas.microsoft.com/office/drawing/2014/main" id="{CA4D4B59-D98D-54F3-E692-9EB9E624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0" y="1453896"/>
            <a:ext cx="8560340" cy="27569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19285"/>
            <a:ext cx="914400" cy="914400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1628"/>
                </a:solidFill>
              </a:rPr>
              <a:t>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46731" y="2560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Anwendung live erleben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Kurs </a:t>
            </a:r>
            <a:r>
              <a:rPr lang="en-US" sz="1300" dirty="0" err="1">
                <a:solidFill>
                  <a:srgbClr val="FFFFFF"/>
                </a:solidFill>
              </a:rPr>
              <a:t>abfragen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9184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FFFFFF"/>
                </a:solidFill>
              </a:rPr>
              <a:t>Aktien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abonnieren</a:t>
            </a:r>
            <a:r>
              <a:rPr lang="en-US" sz="1300" dirty="0">
                <a:solidFill>
                  <a:srgbClr val="FFFFFF"/>
                </a:solidFill>
              </a:rPr>
              <a:t> und </a:t>
            </a:r>
            <a:r>
              <a:rPr lang="en-US" sz="1300" dirty="0" err="1">
                <a:solidFill>
                  <a:srgbClr val="FFFFFF"/>
                </a:solidFill>
              </a:rPr>
              <a:t>verwalten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Alert auslösen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Service-Komposition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/>
              <a:t>Trennung</a:t>
            </a:r>
            <a:r>
              <a:rPr lang="en-US" sz="1200" dirty="0"/>
              <a:t> der Services vereinfacht Debugging und Wartung erheblich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Externe APIs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Rate Limits und Verfügbarkeit externer APIs erfordern robuste Fehlerbehandlung</a:t>
            </a:r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BPMN-First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Prozessmodellierung vor der Implementierung spart Zeit und vermeidet Missverständnisse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Teamarbeit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Klare Aufgabenverteilung und regelmäßige Absprachen sind entscheidend</a:t>
            </a:r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3756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3192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Docker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Containerisierung erleichtert Deployment und sorgt für konsistente Umgebungen</a:t>
            </a:r>
          </a:p>
        </p:txBody>
      </p:sp>
      <p:sp>
        <p:nvSpPr>
          <p:cNvPr id="32" name="Shape 30"/>
          <p:cNvSpPr/>
          <p:nvPr/>
        </p:nvSpPr>
        <p:spPr>
          <a:xfrm>
            <a:off x="612648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1228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Quarkus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Schnelle Startzeiten und geringer Ressourcenverbrauch überzeugen im Praxiseinsatz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486400" y="914400"/>
            <a:ext cx="4114800" cy="41148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2560320" cy="256032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FA5"/>
                </a:solidFill>
              </a:rPr>
              <a:t>John Hohn  ·  Simon Hopfhauer  ·  Tilman Voit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070"/>
                </a:solidFill>
              </a:rPr>
              <a:t>DHBW Mosbach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Macintosh PowerPoint</Application>
  <PresentationFormat>Bildschirmpräsentation (16:9)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Hohn</cp:lastModifiedBy>
  <cp:revision>37</cp:revision>
  <dcterms:created xsi:type="dcterms:W3CDTF">2026-03-10T14:36:51Z</dcterms:created>
  <dcterms:modified xsi:type="dcterms:W3CDTF">2026-03-11T12:56:51Z</dcterms:modified>
</cp:coreProperties>
</file>