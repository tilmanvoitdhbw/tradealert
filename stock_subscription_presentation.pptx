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67" r:id="rId9"/>
    <p:sldId id="276" r:id="rId10"/>
    <p:sldId id="268" r:id="rId11"/>
    <p:sldId id="273" r:id="rId12"/>
    <p:sldId id="269" r:id="rId13"/>
    <p:sldId id="274" r:id="rId14"/>
    <p:sldId id="270" r:id="rId15"/>
    <p:sldId id="264" r:id="rId16"/>
    <p:sldId id="265" r:id="rId17"/>
    <p:sldId id="266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1" d="100"/>
          <a:sy n="211" d="100"/>
        </p:scale>
        <p:origin x="35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89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0B711-0A16-6015-DFA1-5A21E3985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2DC2DB-7924-9444-0111-D5216B9A27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904B01-F323-69E9-1D08-182B5387FE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19387-2ED3-C730-847A-DABC49053E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3064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D754A-7D9C-E4CF-956E-CA5741565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A4FFCF-D1ED-4D15-B86F-AE204D7325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F10112-66C6-4E87-8F14-F05AC06AF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376E6-75BA-2222-5E66-71E1076B1E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8208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6766560" y="-1097280"/>
            <a:ext cx="3474720" cy="3474720"/>
          </a:xfrm>
          <a:prstGeom prst="ellipse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7406640" y="-457200"/>
            <a:ext cx="2194560" cy="2194560"/>
          </a:xfrm>
          <a:prstGeom prst="ellipse">
            <a:avLst/>
          </a:prstGeom>
          <a:solidFill>
            <a:srgbClr val="18305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365760" y="3566160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65760" y="3822192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365760" y="4078224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621792" y="3566160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621792" y="3822192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621792" y="4078224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877824" y="3566160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877824" y="3822192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877824" y="4078224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1133856" y="3566160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1133856" y="3822192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1133856" y="4078224"/>
            <a:ext cx="91440" cy="91440"/>
          </a:xfrm>
          <a:prstGeom prst="ellipse">
            <a:avLst/>
          </a:prstGeom>
          <a:solidFill>
            <a:srgbClr val="00C6AE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457200" y="502920"/>
            <a:ext cx="2011680" cy="32004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57200" y="502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DHBW MOSBACH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1097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Subscription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457200" y="19659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C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457200" y="2971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A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Projektarbeit · Web Services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Hohn  ·  Simon Hopfhauer  ·  Tilman Voit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6217920" y="0"/>
            <a:ext cx="54864" cy="514350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5394960" cy="502920"/>
          </a:xfrm>
          <a:prstGeom prst="rect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6AE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188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Idee vorstellen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5394960" cy="502920"/>
          </a:xfrm>
          <a:prstGeom prst="rect">
            <a:avLst/>
          </a:prstGeom>
          <a:solidFill>
            <a:srgbClr val="0D1A3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48640" y="181051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6AE"/>
                </a:solidFill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18105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Technologien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86584"/>
            <a:ext cx="5394960" cy="502920"/>
          </a:xfrm>
          <a:prstGeom prst="rect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548640" y="2432304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6AE"/>
                </a:solidFill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243230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Services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008376"/>
            <a:ext cx="5394960" cy="502920"/>
          </a:xfrm>
          <a:prstGeom prst="rect">
            <a:avLst/>
          </a:prstGeom>
          <a:solidFill>
            <a:srgbClr val="0D1A3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48640" y="3054096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6AE"/>
                </a:solidFill>
              </a:rPr>
              <a:t>04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305409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Architektur &amp; Implementierung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630168"/>
            <a:ext cx="5394960" cy="502920"/>
          </a:xfrm>
          <a:prstGeom prst="rect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548640" y="367588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6AE"/>
                </a:solidFill>
              </a:rPr>
              <a:t>05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36758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Live Demo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4251960"/>
            <a:ext cx="5394960" cy="502920"/>
          </a:xfrm>
          <a:prstGeom prst="rect">
            <a:avLst/>
          </a:prstGeom>
          <a:solidFill>
            <a:srgbClr val="0D1A3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6AE"/>
                </a:solidFill>
              </a:rPr>
              <a:t>06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4297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Lessons Learned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21031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E3A6E"/>
                </a:solidFill>
              </a:rPr>
              <a:t>2026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6400800" y="30175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6FA5"/>
                </a:solidFill>
              </a:rPr>
              <a:t>Projektarbeit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A6FA5"/>
                </a:solidFill>
              </a:rPr>
              <a:t>Web Services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502920" cy="347472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Idee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Aktien abonnieren. Kurse verfolgen. Alerts erhalten.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2606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2606040" cy="5486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📈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</a:rPr>
              <a:t>Abonnieren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338328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/>
              <a:t>Aktien per Name oder Symbol einfach abonnieren — ohne Login</a:t>
            </a:r>
          </a:p>
        </p:txBody>
      </p:sp>
      <p:sp>
        <p:nvSpPr>
          <p:cNvPr id="13" name="Shape 11"/>
          <p:cNvSpPr/>
          <p:nvPr/>
        </p:nvSpPr>
        <p:spPr>
          <a:xfrm>
            <a:off x="3200400" y="2103120"/>
            <a:ext cx="2606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3200400" y="2103120"/>
            <a:ext cx="2606040" cy="5486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3291840" y="22402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💹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291840" y="2926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</a:rPr>
              <a:t>Kurse abrufen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37560" y="338328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/>
              <a:t>Aktuelle Preise in Echtzeit inklusive Währungsumrechnung</a:t>
            </a:r>
          </a:p>
        </p:txBody>
      </p:sp>
      <p:sp>
        <p:nvSpPr>
          <p:cNvPr id="18" name="Shape 16"/>
          <p:cNvSpPr/>
          <p:nvPr/>
        </p:nvSpPr>
        <p:spPr>
          <a:xfrm>
            <a:off x="6035040" y="2103120"/>
            <a:ext cx="26060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6035040" y="2103120"/>
            <a:ext cx="2606040" cy="5486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6126480" y="22402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🔔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126480" y="29260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</a:rPr>
              <a:t>Alerts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72200" y="338328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/>
              <a:t>Automatische Benachrichtigung bei starken Kursbewegungen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502920" cy="347472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Idee · Ziel &amp; Prinzip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64008" cy="347472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</a:rPr>
              <a:t>Ziel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/>
              <a:t>Einfache</a:t>
            </a:r>
            <a:r>
              <a:rPr lang="en-US" sz="1300" dirty="0"/>
              <a:t> Platform </a:t>
            </a:r>
            <a:r>
              <a:rPr lang="en-US" sz="1300" dirty="0" err="1"/>
              <a:t>zur</a:t>
            </a:r>
            <a:r>
              <a:rPr lang="en-US" sz="1300" dirty="0"/>
              <a:t> </a:t>
            </a:r>
            <a:r>
              <a:rPr lang="en-US" sz="1300" dirty="0" err="1"/>
              <a:t>gleichzeitigen</a:t>
            </a:r>
            <a:r>
              <a:rPr lang="en-US" sz="1300" dirty="0"/>
              <a:t> </a:t>
            </a:r>
            <a:r>
              <a:rPr lang="en-US" sz="1300" dirty="0" err="1"/>
              <a:t>Verrfolgung</a:t>
            </a:r>
            <a:r>
              <a:rPr lang="en-US" sz="1300" dirty="0"/>
              <a:t> von </a:t>
            </a:r>
            <a:r>
              <a:rPr lang="en-US" sz="1300" dirty="0" err="1"/>
              <a:t>Aktien</a:t>
            </a:r>
            <a:r>
              <a:rPr lang="en-US" sz="1300" dirty="0"/>
              <a:t>.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/>
              <a:t>Kein komplexes Login-System.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/>
              <a:t>Eingabe direkt über Aktienname oder Symbol.</a:t>
            </a:r>
          </a:p>
        </p:txBody>
      </p:sp>
      <p:sp>
        <p:nvSpPr>
          <p:cNvPr id="11" name="Shape 9"/>
          <p:cNvSpPr/>
          <p:nvPr/>
        </p:nvSpPr>
        <p:spPr>
          <a:xfrm>
            <a:off x="4572000" y="1280160"/>
            <a:ext cx="420624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4572000" y="1280160"/>
            <a:ext cx="64008" cy="3474720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4754880" y="14173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</a:rPr>
              <a:t>Architekturprinzip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800600" y="2011680"/>
            <a:ext cx="201168" cy="201168"/>
          </a:xfrm>
          <a:prstGeom prst="ellipse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120640" y="19659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Composite Service orchestriert alle Abläufe</a:t>
            </a:r>
          </a:p>
        </p:txBody>
      </p:sp>
      <p:sp>
        <p:nvSpPr>
          <p:cNvPr id="16" name="Shape 14"/>
          <p:cNvSpPr/>
          <p:nvPr/>
        </p:nvSpPr>
        <p:spPr>
          <a:xfrm>
            <a:off x="4800600" y="2670048"/>
            <a:ext cx="201168" cy="201168"/>
          </a:xfrm>
          <a:prstGeom prst="ellipse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120640" y="262432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/>
              <a:t>Kombination</a:t>
            </a:r>
            <a:r>
              <a:rPr lang="en-US" sz="1200" dirty="0"/>
              <a:t> </a:t>
            </a:r>
            <a:r>
              <a:rPr lang="en-US" sz="1200" dirty="0" err="1"/>
              <a:t>aus</a:t>
            </a:r>
            <a:r>
              <a:rPr lang="en-US" sz="1200" dirty="0"/>
              <a:t> Interne &amp; externe Services</a:t>
            </a:r>
          </a:p>
        </p:txBody>
      </p:sp>
      <p:sp>
        <p:nvSpPr>
          <p:cNvPr id="18" name="Shape 16"/>
          <p:cNvSpPr/>
          <p:nvPr/>
        </p:nvSpPr>
        <p:spPr>
          <a:xfrm>
            <a:off x="4800600" y="3328416"/>
            <a:ext cx="201168" cy="201168"/>
          </a:xfrm>
          <a:prstGeom prst="ellipse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5120640" y="328269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Modular: Services unabhängig entwickel- &amp; austauschbar</a:t>
            </a:r>
          </a:p>
        </p:txBody>
      </p:sp>
      <p:sp>
        <p:nvSpPr>
          <p:cNvPr id="20" name="Shape 18"/>
          <p:cNvSpPr/>
          <p:nvPr/>
        </p:nvSpPr>
        <p:spPr>
          <a:xfrm>
            <a:off x="4800600" y="3986784"/>
            <a:ext cx="201168" cy="201168"/>
          </a:xfrm>
          <a:prstGeom prst="ellipse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120640" y="394106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REST + JSON als Kommunikationsstandard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Technologien · 2.1 Frontend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4224528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274320" y="1078992"/>
            <a:ext cx="54864" cy="1170432"/>
          </a:xfrm>
          <a:prstGeom prst="rect">
            <a:avLst/>
          </a:prstGeom>
          <a:solidFill>
            <a:srgbClr val="41B88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38912" y="1170432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Vue.js 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" y="1517904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457200" y="1618488"/>
            <a:ext cx="82296" cy="82296"/>
          </a:xfrm>
          <a:prstGeom prst="ellipse">
            <a:avLst/>
          </a:prstGeom>
          <a:solidFill>
            <a:srgbClr val="41B88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03504" y="1563624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Composition API mit &lt;script setup&gt;-Syntax</a:t>
            </a:r>
          </a:p>
        </p:txBody>
      </p:sp>
      <p:sp>
        <p:nvSpPr>
          <p:cNvPr id="13" name="Shape 11"/>
          <p:cNvSpPr/>
          <p:nvPr/>
        </p:nvSpPr>
        <p:spPr>
          <a:xfrm>
            <a:off x="457200" y="1929384"/>
            <a:ext cx="82296" cy="82296"/>
          </a:xfrm>
          <a:prstGeom prst="ellipse">
            <a:avLst/>
          </a:prstGeom>
          <a:solidFill>
            <a:srgbClr val="41B88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03504" y="1874520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Reaktive Datenbindung — UI aktualisiert sich ohne Seitenreload</a:t>
            </a:r>
          </a:p>
        </p:txBody>
      </p:sp>
      <p:sp>
        <p:nvSpPr>
          <p:cNvPr id="15" name="Shape 13"/>
          <p:cNvSpPr/>
          <p:nvPr/>
        </p:nvSpPr>
        <p:spPr>
          <a:xfrm>
            <a:off x="4736592" y="1078992"/>
            <a:ext cx="4224528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4736592" y="1078992"/>
            <a:ext cx="54864" cy="1170432"/>
          </a:xfrm>
          <a:prstGeom prst="rect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901184" y="1170432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JavaScript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01184" y="1517904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4919472" y="1618488"/>
            <a:ext cx="82296" cy="82296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5065776" y="1563624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async/await für Netzwerkanfragen, setInterval für Timer</a:t>
            </a:r>
          </a:p>
        </p:txBody>
      </p:sp>
      <p:sp>
        <p:nvSpPr>
          <p:cNvPr id="21" name="Shape 19"/>
          <p:cNvSpPr/>
          <p:nvPr/>
        </p:nvSpPr>
        <p:spPr>
          <a:xfrm>
            <a:off x="4919472" y="1929384"/>
            <a:ext cx="82296" cy="82296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5065776" y="1874520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Arrow-Functions und modernes JS ohne Transpiler</a:t>
            </a:r>
          </a:p>
        </p:txBody>
      </p:sp>
      <p:sp>
        <p:nvSpPr>
          <p:cNvPr id="23" name="Shape 21"/>
          <p:cNvSpPr/>
          <p:nvPr/>
        </p:nvSpPr>
        <p:spPr>
          <a:xfrm>
            <a:off x="274320" y="2395728"/>
            <a:ext cx="4224528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274320" y="2395728"/>
            <a:ext cx="54864" cy="1170432"/>
          </a:xfrm>
          <a:prstGeom prst="rect">
            <a:avLst/>
          </a:prstGeom>
          <a:solidFill>
            <a:srgbClr val="264DE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438912" y="2487168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HTML &amp; CSS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38912" y="2834640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457200" y="2935224"/>
            <a:ext cx="82296" cy="82296"/>
          </a:xfrm>
          <a:prstGeom prst="ellipse">
            <a:avLst/>
          </a:prstGeom>
          <a:solidFill>
            <a:srgbClr val="264DE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603504" y="2880360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Glassmorphism-Design mit halbtransparenten Flächen</a:t>
            </a:r>
          </a:p>
        </p:txBody>
      </p:sp>
      <p:sp>
        <p:nvSpPr>
          <p:cNvPr id="29" name="Shape 27"/>
          <p:cNvSpPr/>
          <p:nvPr/>
        </p:nvSpPr>
        <p:spPr>
          <a:xfrm>
            <a:off x="457200" y="3246120"/>
            <a:ext cx="82296" cy="82296"/>
          </a:xfrm>
          <a:prstGeom prst="ellipse">
            <a:avLst/>
          </a:prstGeom>
          <a:solidFill>
            <a:srgbClr val="264DE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603504" y="3191256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CSS-Flexbox-Layout und CSS-Variablen (:root)</a:t>
            </a:r>
          </a:p>
        </p:txBody>
      </p:sp>
      <p:sp>
        <p:nvSpPr>
          <p:cNvPr id="31" name="Shape 29"/>
          <p:cNvSpPr/>
          <p:nvPr/>
        </p:nvSpPr>
        <p:spPr>
          <a:xfrm>
            <a:off x="4736592" y="2395728"/>
            <a:ext cx="4224528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2" name="Shape 30"/>
          <p:cNvSpPr/>
          <p:nvPr/>
        </p:nvSpPr>
        <p:spPr>
          <a:xfrm>
            <a:off x="4736592" y="2395728"/>
            <a:ext cx="54864" cy="1170432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4901184" y="2487168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Fetch API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901184" y="2834640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Shape 33"/>
          <p:cNvSpPr/>
          <p:nvPr/>
        </p:nvSpPr>
        <p:spPr>
          <a:xfrm>
            <a:off x="4919472" y="2935224"/>
            <a:ext cx="82296" cy="82296"/>
          </a:xfrm>
          <a:prstGeom prst="ellipse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5065776" y="2880360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Browser-native Schnittstelle für asynchrone REST-Aufrufe</a:t>
            </a:r>
          </a:p>
        </p:txBody>
      </p:sp>
      <p:sp>
        <p:nvSpPr>
          <p:cNvPr id="37" name="Shape 35"/>
          <p:cNvSpPr/>
          <p:nvPr/>
        </p:nvSpPr>
        <p:spPr>
          <a:xfrm>
            <a:off x="4919472" y="3246120"/>
            <a:ext cx="82296" cy="82296"/>
          </a:xfrm>
          <a:prstGeom prst="ellipse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5065776" y="3191256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Kommuniziert ausschließlich mit dem Orchestrator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Technologien · 2.2 Backend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4224528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274320" y="1078992"/>
            <a:ext cx="54864" cy="1170432"/>
          </a:xfrm>
          <a:prstGeom prst="rect">
            <a:avLst/>
          </a:prstGeom>
          <a:solidFill>
            <a:srgbClr val="4695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38912" y="1170432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Quarkus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" y="1517904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457200" y="1618488"/>
            <a:ext cx="82296" cy="82296"/>
          </a:xfrm>
          <a:prstGeom prst="ellipse">
            <a:avLst/>
          </a:prstGeom>
          <a:solidFill>
            <a:srgbClr val="4695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03504" y="1563624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Basis aller 5 Microservices — schnelle Startzeiten, geringer Speicherbedarf</a:t>
            </a:r>
          </a:p>
        </p:txBody>
      </p:sp>
      <p:sp>
        <p:nvSpPr>
          <p:cNvPr id="13" name="Shape 11"/>
          <p:cNvSpPr/>
          <p:nvPr/>
        </p:nvSpPr>
        <p:spPr>
          <a:xfrm>
            <a:off x="457200" y="1929384"/>
            <a:ext cx="82296" cy="82296"/>
          </a:xfrm>
          <a:prstGeom prst="ellipse">
            <a:avLst/>
          </a:prstGeom>
          <a:solidFill>
            <a:srgbClr val="4695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03504" y="1874520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REST-Endpunkte und Scheduler (MonitoringJob) out-of-the-box</a:t>
            </a:r>
          </a:p>
        </p:txBody>
      </p:sp>
      <p:sp>
        <p:nvSpPr>
          <p:cNvPr id="15" name="Shape 13"/>
          <p:cNvSpPr/>
          <p:nvPr/>
        </p:nvSpPr>
        <p:spPr>
          <a:xfrm>
            <a:off x="4736592" y="1078992"/>
            <a:ext cx="4224528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4736592" y="1078992"/>
            <a:ext cx="54864" cy="1170432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901184" y="1170432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REST + JSON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01184" y="1517904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4919472" y="1618488"/>
            <a:ext cx="82296" cy="82296"/>
          </a:xfrm>
          <a:prstGeom prst="ellipse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5065776" y="1563624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Kommunikationsstandard zwischen allen Services</a:t>
            </a:r>
          </a:p>
        </p:txBody>
      </p:sp>
      <p:sp>
        <p:nvSpPr>
          <p:cNvPr id="21" name="Shape 19"/>
          <p:cNvSpPr/>
          <p:nvPr/>
        </p:nvSpPr>
        <p:spPr>
          <a:xfrm>
            <a:off x="4919472" y="1929384"/>
            <a:ext cx="82296" cy="82296"/>
          </a:xfrm>
          <a:prstGeom prst="ellipse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5065776" y="1874520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JAX-RS Annotationen (@GET, @POST, @DELETE) für die API-Endpunkte</a:t>
            </a:r>
          </a:p>
        </p:txBody>
      </p:sp>
      <p:sp>
        <p:nvSpPr>
          <p:cNvPr id="23" name="Shape 21"/>
          <p:cNvSpPr/>
          <p:nvPr/>
        </p:nvSpPr>
        <p:spPr>
          <a:xfrm>
            <a:off x="274320" y="2395728"/>
            <a:ext cx="4224528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274320" y="2395728"/>
            <a:ext cx="54864" cy="1170432"/>
          </a:xfrm>
          <a:prstGeom prst="rect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438912" y="2487168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Docker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38912" y="2834640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457200" y="2935224"/>
            <a:ext cx="82296" cy="82296"/>
          </a:xfrm>
          <a:prstGeom prst="ellipse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603504" y="2880360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Jeder Service läuft in einem eigenen Container</a:t>
            </a:r>
          </a:p>
        </p:txBody>
      </p:sp>
      <p:sp>
        <p:nvSpPr>
          <p:cNvPr id="29" name="Shape 27"/>
          <p:cNvSpPr/>
          <p:nvPr/>
        </p:nvSpPr>
        <p:spPr>
          <a:xfrm>
            <a:off x="457200" y="3246120"/>
            <a:ext cx="82296" cy="82296"/>
          </a:xfrm>
          <a:prstGeom prst="ellipse">
            <a:avLst/>
          </a:prstGeom>
          <a:solidFill>
            <a:srgbClr val="2496E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603504" y="3191256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docker-compose orchestriert alle Services + PostgreSQL</a:t>
            </a:r>
          </a:p>
        </p:txBody>
      </p:sp>
      <p:sp>
        <p:nvSpPr>
          <p:cNvPr id="31" name="Shape 29"/>
          <p:cNvSpPr/>
          <p:nvPr/>
        </p:nvSpPr>
        <p:spPr>
          <a:xfrm>
            <a:off x="4736592" y="2395728"/>
            <a:ext cx="4224528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2" name="Shape 30"/>
          <p:cNvSpPr/>
          <p:nvPr/>
        </p:nvSpPr>
        <p:spPr>
          <a:xfrm>
            <a:off x="4736592" y="2395728"/>
            <a:ext cx="54864" cy="1170432"/>
          </a:xfrm>
          <a:prstGeom prst="rect">
            <a:avLst/>
          </a:prstGeom>
          <a:solidFill>
            <a:srgbClr val="33679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4901184" y="2487168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PostgreSQL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901184" y="2834640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Shape 33"/>
          <p:cNvSpPr/>
          <p:nvPr/>
        </p:nvSpPr>
        <p:spPr>
          <a:xfrm>
            <a:off x="4919472" y="2935224"/>
            <a:ext cx="82296" cy="82296"/>
          </a:xfrm>
          <a:prstGeom prst="ellipse">
            <a:avLst/>
          </a:prstGeom>
          <a:solidFill>
            <a:srgbClr val="33679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5065776" y="2880360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Persistente Speicherung von Abonnements und ausgelösten Alerts</a:t>
            </a:r>
          </a:p>
        </p:txBody>
      </p:sp>
      <p:sp>
        <p:nvSpPr>
          <p:cNvPr id="37" name="Shape 35"/>
          <p:cNvSpPr/>
          <p:nvPr/>
        </p:nvSpPr>
        <p:spPr>
          <a:xfrm>
            <a:off x="4919472" y="3246120"/>
            <a:ext cx="82296" cy="82296"/>
          </a:xfrm>
          <a:prstGeom prst="ellipse">
            <a:avLst/>
          </a:prstGeom>
          <a:solidFill>
            <a:srgbClr val="33679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5065776" y="3191256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Eingebunden über den Subscription-Service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· 3.1 Interne Web-Services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4224528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274320" y="1078992"/>
            <a:ext cx="54864" cy="1170432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38912" y="11704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Orchestrator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" y="1517904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457200" y="1618488"/>
            <a:ext cx="82296" cy="82296"/>
          </a:xfrm>
          <a:prstGeom prst="ellipse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03504" y="1563624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API-Gateway — einziger Kontaktpunkt des Frontends</a:t>
            </a:r>
          </a:p>
        </p:txBody>
      </p:sp>
      <p:sp>
        <p:nvSpPr>
          <p:cNvPr id="15" name="Shape 13"/>
          <p:cNvSpPr/>
          <p:nvPr/>
        </p:nvSpPr>
        <p:spPr>
          <a:xfrm>
            <a:off x="457200" y="1929384"/>
            <a:ext cx="82296" cy="82296"/>
          </a:xfrm>
          <a:prstGeom prst="ellipse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603504" y="1874520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Hostet den MonitoringJob</a:t>
            </a:r>
          </a:p>
        </p:txBody>
      </p:sp>
      <p:sp>
        <p:nvSpPr>
          <p:cNvPr id="17" name="Shape 15"/>
          <p:cNvSpPr/>
          <p:nvPr/>
        </p:nvSpPr>
        <p:spPr>
          <a:xfrm>
            <a:off x="4736592" y="1078992"/>
            <a:ext cx="4224528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4736592" y="1078992"/>
            <a:ext cx="54864" cy="1170432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4901184" y="11704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Stock-Service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01184" y="1517904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4919472" y="1618488"/>
            <a:ext cx="82296" cy="82296"/>
          </a:xfrm>
          <a:prstGeom prst="ellipse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5065776" y="1563624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Wandelt Sucheingaben in Börsensymbole um</a:t>
            </a:r>
          </a:p>
        </p:txBody>
      </p:sp>
      <p:sp>
        <p:nvSpPr>
          <p:cNvPr id="25" name="Shape 23"/>
          <p:cNvSpPr/>
          <p:nvPr/>
        </p:nvSpPr>
        <p:spPr>
          <a:xfrm>
            <a:off x="4919472" y="1929384"/>
            <a:ext cx="82296" cy="82296"/>
          </a:xfrm>
          <a:prstGeom prst="ellipse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5065776" y="1874520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Ruft Live-Kurse von AlphaVantage ab</a:t>
            </a:r>
          </a:p>
        </p:txBody>
      </p:sp>
      <p:sp>
        <p:nvSpPr>
          <p:cNvPr id="27" name="Shape 25"/>
          <p:cNvSpPr/>
          <p:nvPr/>
        </p:nvSpPr>
        <p:spPr>
          <a:xfrm>
            <a:off x="274320" y="2395728"/>
            <a:ext cx="4224528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274320" y="2395728"/>
            <a:ext cx="54864" cy="117043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438912" y="24871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Subscription-Service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38912" y="2834640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Shape 31"/>
          <p:cNvSpPr/>
          <p:nvPr/>
        </p:nvSpPr>
        <p:spPr>
          <a:xfrm>
            <a:off x="457200" y="2935224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603504" y="2880360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Speichert Portfolios in PostgreSQL</a:t>
            </a:r>
          </a:p>
        </p:txBody>
      </p:sp>
      <p:sp>
        <p:nvSpPr>
          <p:cNvPr id="35" name="Shape 33"/>
          <p:cNvSpPr/>
          <p:nvPr/>
        </p:nvSpPr>
        <p:spPr>
          <a:xfrm>
            <a:off x="457200" y="3246120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603504" y="3191256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Validiert Eingaben</a:t>
            </a:r>
          </a:p>
        </p:txBody>
      </p:sp>
      <p:sp>
        <p:nvSpPr>
          <p:cNvPr id="37" name="Shape 35"/>
          <p:cNvSpPr/>
          <p:nvPr/>
        </p:nvSpPr>
        <p:spPr>
          <a:xfrm>
            <a:off x="4736592" y="2395728"/>
            <a:ext cx="4224528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8" name="Shape 36"/>
          <p:cNvSpPr/>
          <p:nvPr/>
        </p:nvSpPr>
        <p:spPr>
          <a:xfrm>
            <a:off x="4736592" y="2395728"/>
            <a:ext cx="54864" cy="1170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/>
          <p:nvPr/>
        </p:nvSpPr>
        <p:spPr>
          <a:xfrm>
            <a:off x="4901184" y="24871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Alert-Service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901184" y="2834640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Shape 41"/>
          <p:cNvSpPr/>
          <p:nvPr/>
        </p:nvSpPr>
        <p:spPr>
          <a:xfrm>
            <a:off x="4919472" y="2935224"/>
            <a:ext cx="82296" cy="8229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4" name="Text 42"/>
          <p:cNvSpPr/>
          <p:nvPr/>
        </p:nvSpPr>
        <p:spPr>
          <a:xfrm>
            <a:off x="5065776" y="2880360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Vergleicht Live-Kurse mit gesetzten Limits</a:t>
            </a:r>
          </a:p>
        </p:txBody>
      </p:sp>
      <p:sp>
        <p:nvSpPr>
          <p:cNvPr id="45" name="Shape 43"/>
          <p:cNvSpPr/>
          <p:nvPr/>
        </p:nvSpPr>
        <p:spPr>
          <a:xfrm>
            <a:off x="4919472" y="3246120"/>
            <a:ext cx="82296" cy="8229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6" name="Text 44"/>
          <p:cNvSpPr/>
          <p:nvPr/>
        </p:nvSpPr>
        <p:spPr>
          <a:xfrm>
            <a:off x="5065776" y="3191256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RAM-Cache verhindert Spam</a:t>
            </a:r>
          </a:p>
        </p:txBody>
      </p:sp>
      <p:sp>
        <p:nvSpPr>
          <p:cNvPr id="47" name="Shape 45"/>
          <p:cNvSpPr/>
          <p:nvPr/>
        </p:nvSpPr>
        <p:spPr>
          <a:xfrm>
            <a:off x="274320" y="3749040"/>
            <a:ext cx="4224528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8" name="Shape 46"/>
          <p:cNvSpPr/>
          <p:nvPr/>
        </p:nvSpPr>
        <p:spPr>
          <a:xfrm>
            <a:off x="274320" y="3749040"/>
            <a:ext cx="54864" cy="11704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9" name="Text 47"/>
          <p:cNvSpPr/>
          <p:nvPr/>
        </p:nvSpPr>
        <p:spPr>
          <a:xfrm>
            <a:off x="438912" y="3840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Currency-Service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438912" y="4187952"/>
            <a:ext cx="3968496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3" name="Shape 51"/>
          <p:cNvSpPr/>
          <p:nvPr/>
        </p:nvSpPr>
        <p:spPr>
          <a:xfrm>
            <a:off x="457200" y="4288536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4" name="Text 52"/>
          <p:cNvSpPr/>
          <p:nvPr/>
        </p:nvSpPr>
        <p:spPr>
          <a:xfrm>
            <a:off x="603504" y="4233672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Wrappt die externe Währungs-API</a:t>
            </a:r>
          </a:p>
        </p:txBody>
      </p:sp>
      <p:sp>
        <p:nvSpPr>
          <p:cNvPr id="55" name="Shape 53"/>
          <p:cNvSpPr/>
          <p:nvPr/>
        </p:nvSpPr>
        <p:spPr>
          <a:xfrm>
            <a:off x="457200" y="4599432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6" name="Text 54"/>
          <p:cNvSpPr/>
          <p:nvPr/>
        </p:nvSpPr>
        <p:spPr>
          <a:xfrm>
            <a:off x="603504" y="4544568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/>
              <a:t>Rechnet USD in Zielwährung 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· 3.2 Externe Web-Services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/>
              <a:t>Fremdanbieter-APIs — werden ausschließlich von internen Services angesprochen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0106" y="1389888"/>
            <a:ext cx="41605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370106" y="1389888"/>
            <a:ext cx="4160520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61546" y="146304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01626" y="1490472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</a:rPr>
              <a:t>AlphaVantage API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01626" y="180136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Die Börsen-Datenbank  ·  via stock-service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2986" y="2148840"/>
            <a:ext cx="38633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507266" y="2231136"/>
            <a:ext cx="1371600" cy="27432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07266" y="22311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2400E"/>
                </a:solidFill>
              </a:rPr>
              <a:t>GLOBAL_QUOTE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4698" y="25603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Liefert Live-Aktienkurse in USD.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4426" y="28346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/>
              <a:t>→  Kursabfrage durch den User</a:t>
            </a:r>
          </a:p>
        </p:txBody>
      </p:sp>
      <p:sp>
        <p:nvSpPr>
          <p:cNvPr id="18" name="Text 16"/>
          <p:cNvSpPr/>
          <p:nvPr/>
        </p:nvSpPr>
        <p:spPr>
          <a:xfrm>
            <a:off x="644426" y="30906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/>
              <a:t>→  Minütlich vom MonitoringJob für Preis-Abgleich</a:t>
            </a:r>
          </a:p>
        </p:txBody>
      </p:sp>
      <p:sp>
        <p:nvSpPr>
          <p:cNvPr id="19" name="Shape 17"/>
          <p:cNvSpPr/>
          <p:nvPr/>
        </p:nvSpPr>
        <p:spPr>
          <a:xfrm>
            <a:off x="552986" y="3438144"/>
            <a:ext cx="38633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507266" y="3511296"/>
            <a:ext cx="1371600" cy="27432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07266" y="35112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2400E"/>
                </a:solidFill>
              </a:rPr>
              <a:t>SYMBOL_SEARCH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34698" y="3840480"/>
            <a:ext cx="3995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Suchmaschine: "Apple" → "AAPL"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1148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/>
              <a:t>→  Beim Abonnieren einer neuen Aktie</a:t>
            </a:r>
          </a:p>
        </p:txBody>
      </p:sp>
      <p:sp>
        <p:nvSpPr>
          <p:cNvPr id="24" name="Shape 22"/>
          <p:cNvSpPr/>
          <p:nvPr/>
        </p:nvSpPr>
        <p:spPr>
          <a:xfrm>
            <a:off x="4617721" y="1389888"/>
            <a:ext cx="4160519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4617721" y="1389888"/>
            <a:ext cx="4160519" cy="640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4663442" y="146304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💱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303522" y="14904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</a:rPr>
              <a:t>Currency API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303522" y="18013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</a:rPr>
              <a:t>jsdelivr  ·  via currency-service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1" y="2148840"/>
            <a:ext cx="3803903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4690874" y="2231136"/>
            <a:ext cx="1371600" cy="27432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4690874" y="22311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5F46"/>
                </a:solidFill>
              </a:rPr>
              <a:t>WECHSELKURS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690874" y="257860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Holt aktuellen USD → EUR Kurs.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2" y="296265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/>
              <a:t>→  Beim Start der Frontend-Seite</a:t>
            </a:r>
          </a:p>
        </p:txBody>
      </p:sp>
      <p:sp>
        <p:nvSpPr>
          <p:cNvPr id="34" name="Text 32"/>
          <p:cNvSpPr/>
          <p:nvPr/>
        </p:nvSpPr>
        <p:spPr>
          <a:xfrm>
            <a:off x="4754882" y="327355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/>
              <a:t>→  Portfoliowerte live umrechnen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 &amp; Implementierung · 4.1 Überblick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/>
              <a:t>Orchestrator als zentraler Composite-Service — 3 Startpunkte: Request, Seitenstart &amp; Timer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54864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7"/>
          <p:cNvSpPr/>
          <p:nvPr/>
        </p:nvSpPr>
        <p:spPr>
          <a:xfrm>
            <a:off x="5989320" y="1371600"/>
            <a:ext cx="28803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5989320" y="1371600"/>
            <a:ext cx="45720" cy="7498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6126480" y="14264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📥  Request vom Nutzer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26480" y="17190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Gateway routet zu Abonnieren oder Kündigen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989320" y="2240280"/>
            <a:ext cx="28803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2"/>
          <p:cNvSpPr/>
          <p:nvPr/>
        </p:nvSpPr>
        <p:spPr>
          <a:xfrm>
            <a:off x="5989320" y="2240280"/>
            <a:ext cx="45720" cy="7498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/>
          <p:nvPr/>
        </p:nvSpPr>
        <p:spPr>
          <a:xfrm>
            <a:off x="6126480" y="22951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🏠  Erstes Laden der Seite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26480" y="25877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Startet automatisch die Währungsumrechnung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989320" y="3108960"/>
            <a:ext cx="28803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6"/>
          <p:cNvSpPr/>
          <p:nvPr/>
        </p:nvSpPr>
        <p:spPr>
          <a:xfrm>
            <a:off x="5989320" y="3108960"/>
            <a:ext cx="45720" cy="749808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7"/>
          <p:cNvSpPr/>
          <p:nvPr/>
        </p:nvSpPr>
        <p:spPr>
          <a:xfrm>
            <a:off x="6126480" y="31638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⏱️  Timer-Event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126480" y="34564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Minütlich getriggerte Kursüberwachung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989320" y="3977640"/>
            <a:ext cx="28803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20"/>
          <p:cNvSpPr/>
          <p:nvPr/>
        </p:nvSpPr>
        <p:spPr>
          <a:xfrm>
            <a:off x="5989320" y="3977640"/>
            <a:ext cx="45720" cy="749808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1"/>
          <p:cNvSpPr/>
          <p:nvPr/>
        </p:nvSpPr>
        <p:spPr>
          <a:xfrm>
            <a:off x="6126480" y="40325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🔗  Call Activities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126480" y="43251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Logik in Teilprozessen gekapselt — Gesamtprozess bleibt schlank</a:t>
            </a:r>
            <a:endParaRPr lang="en-US" sz="950" dirty="0"/>
          </a:p>
        </p:txBody>
      </p:sp>
      <p:pic>
        <p:nvPicPr>
          <p:cNvPr id="27" name="Grafik 26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4EE87AAE-8295-690A-B57C-84D06D801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322" y="1596336"/>
            <a:ext cx="4840396" cy="30252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 &amp; Implementierung · 4.2 Prozesse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854964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228599" y="1051560"/>
            <a:ext cx="8549639" cy="89996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20040" y="11155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Aktie abonnieren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14264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/>
              <a:t>Eingabe → Symbol-Suche → Kursprüfung → DB-Speicherung</a:t>
            </a:r>
            <a:endParaRPr lang="en-US" sz="950" dirty="0"/>
          </a:p>
        </p:txBody>
      </p:sp>
      <p:pic>
        <p:nvPicPr>
          <p:cNvPr id="12" name="Grafik 11" descr="Ein Bild, das Diagramm, Reihe, parallel, Plan enthält.&#10;&#10;KI-generierte Inhalte können fehlerhaft sein.">
            <a:extLst>
              <a:ext uri="{FF2B5EF4-FFF2-40B4-BE49-F238E27FC236}">
                <a16:creationId xmlns:a16="http://schemas.microsoft.com/office/drawing/2014/main" id="{55E6DAAF-FEB0-A18B-79AE-FB3F4A1A4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36" y="1718569"/>
            <a:ext cx="7782128" cy="30953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948F8-E7D2-D3EE-B5AD-413151C29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A4AA911-584D-776E-074B-7757E3D1E4B7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58347BE-4907-3C58-9409-C130DB9E58A7}"/>
              </a:ext>
            </a:extLst>
          </p:cNvPr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3776D32-B675-F060-D977-4AB51EE57FB7}"/>
              </a:ext>
            </a:extLst>
          </p:cNvPr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E13B7CC-81D5-057F-96B8-972FA6CF0318}"/>
              </a:ext>
            </a:extLst>
          </p:cNvPr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04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C079518-0146-DE9C-718E-8E21106CB18E}"/>
              </a:ext>
            </a:extLst>
          </p:cNvPr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 &amp; Implementierung · 4.2 Prozesse</a:t>
            </a:r>
            <a:endParaRPr lang="en-US" sz="24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DBF359F1-32B8-2D5B-42A8-9CB5F63101C9}"/>
              </a:ext>
            </a:extLst>
          </p:cNvPr>
          <p:cNvSpPr/>
          <p:nvPr/>
        </p:nvSpPr>
        <p:spPr>
          <a:xfrm>
            <a:off x="365760" y="1005840"/>
            <a:ext cx="841248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671EE906-F098-1F9D-787B-301C15531EC1}"/>
              </a:ext>
            </a:extLst>
          </p:cNvPr>
          <p:cNvSpPr/>
          <p:nvPr/>
        </p:nvSpPr>
        <p:spPr>
          <a:xfrm>
            <a:off x="365760" y="1005840"/>
            <a:ext cx="841248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1BA93C9-BA41-C9C3-B31A-C265CC654508}"/>
              </a:ext>
            </a:extLst>
          </p:cNvPr>
          <p:cNvSpPr/>
          <p:nvPr/>
        </p:nvSpPr>
        <p:spPr>
          <a:xfrm>
            <a:off x="457200" y="10698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Abonnement kündigen</a:t>
            </a:r>
            <a:endParaRPr lang="en-US" sz="13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569A94D-EB4B-5BC8-CA53-226F7DF3A929}"/>
              </a:ext>
            </a:extLst>
          </p:cNvPr>
          <p:cNvSpPr/>
          <p:nvPr/>
        </p:nvSpPr>
        <p:spPr>
          <a:xfrm>
            <a:off x="457200" y="138074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 err="1"/>
              <a:t>Bestätigungs</a:t>
            </a:r>
            <a:r>
              <a:rPr lang="en-US" sz="950" i="1" dirty="0"/>
              <a:t>-Modal → DB-Löschung → Alert-Cache löschen</a:t>
            </a:r>
            <a:endParaRPr lang="en-US" sz="950" dirty="0"/>
          </a:p>
        </p:txBody>
      </p:sp>
      <p:pic>
        <p:nvPicPr>
          <p:cNvPr id="8" name="Grafik 7" descr="Ein Bild, das Text, Diagramm, Reihe, parallel enthält.&#10;&#10;KI-generierte Inhalte können fehlerhaft sein.">
            <a:extLst>
              <a:ext uri="{FF2B5EF4-FFF2-40B4-BE49-F238E27FC236}">
                <a16:creationId xmlns:a16="http://schemas.microsoft.com/office/drawing/2014/main" id="{BED2EC3A-BA92-0145-8AC6-13775C38C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1695493"/>
            <a:ext cx="7898860" cy="313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971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 &amp; Implementierung · 4.2 Prozesse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854964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8549640" cy="54864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20040" y="11155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Aktienkurs abrufen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14264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/>
              <a:t>API-Anfrage → Fallback bei Rate-Limit</a:t>
            </a:r>
            <a:endParaRPr lang="en-US" sz="950" dirty="0"/>
          </a:p>
        </p:txBody>
      </p:sp>
      <p:pic>
        <p:nvPicPr>
          <p:cNvPr id="18" name="Grafik 17" descr="Ein Bild, das Screenshot, Diagramm, Reihe, parallel enthält.&#10;&#10;KI-generierte Inhalte können fehlerhaft sein.">
            <a:extLst>
              <a:ext uri="{FF2B5EF4-FFF2-40B4-BE49-F238E27FC236}">
                <a16:creationId xmlns:a16="http://schemas.microsoft.com/office/drawing/2014/main" id="{3F11E911-33AD-40D4-75FD-7508564EB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738" y="1890467"/>
            <a:ext cx="7909363" cy="220147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372B3-3706-E56A-95E7-588D9FD14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2F0EDA7-3EE8-EDD6-1480-4882A9B9525B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ED73105-70D7-BDCA-D544-14B54C34084F}"/>
              </a:ext>
            </a:extLst>
          </p:cNvPr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3D12594-3678-762B-3016-0606A1515DA2}"/>
              </a:ext>
            </a:extLst>
          </p:cNvPr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22C52DF-4A33-4B24-1D19-FA8E80E0969C}"/>
              </a:ext>
            </a:extLst>
          </p:cNvPr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04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E3CF51D-BDA6-C934-AC2A-DAEBD48DEFC6}"/>
              </a:ext>
            </a:extLst>
          </p:cNvPr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 &amp; Implementierung · 4.2 Prozesse</a:t>
            </a:r>
            <a:endParaRPr lang="en-US" sz="24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4FB16AC9-0B7E-4D9D-7EEF-B772B25429E6}"/>
              </a:ext>
            </a:extLst>
          </p:cNvPr>
          <p:cNvSpPr/>
          <p:nvPr/>
        </p:nvSpPr>
        <p:spPr>
          <a:xfrm>
            <a:off x="220980" y="1074420"/>
            <a:ext cx="855726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C4A38609-A1FA-A413-B5C8-5078B356C48C}"/>
              </a:ext>
            </a:extLst>
          </p:cNvPr>
          <p:cNvSpPr/>
          <p:nvPr/>
        </p:nvSpPr>
        <p:spPr>
          <a:xfrm>
            <a:off x="220980" y="1074420"/>
            <a:ext cx="855726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2D51246E-29BB-5CEB-0F13-73BC9612DD5D}"/>
              </a:ext>
            </a:extLst>
          </p:cNvPr>
          <p:cNvSpPr/>
          <p:nvPr/>
        </p:nvSpPr>
        <p:spPr>
          <a:xfrm>
            <a:off x="312420" y="113842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Währungsumrechnung</a:t>
            </a:r>
            <a:endParaRPr lang="en-US" sz="13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85BAE136-8C0C-4FA5-6E82-01A1969A937D}"/>
              </a:ext>
            </a:extLst>
          </p:cNvPr>
          <p:cNvSpPr/>
          <p:nvPr/>
        </p:nvSpPr>
        <p:spPr>
          <a:xfrm>
            <a:off x="312420" y="144932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/>
              <a:t>Seitenstart → CurrencyAPI → Fallback → Preise in EUR</a:t>
            </a:r>
            <a:endParaRPr lang="en-US" sz="950" dirty="0"/>
          </a:p>
        </p:txBody>
      </p:sp>
      <p:pic>
        <p:nvPicPr>
          <p:cNvPr id="8" name="Grafik 7" descr="Ein Bild, das Diagramm, Text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DA1C7547-9A6C-7095-C6CA-C6D662248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563" y="1705356"/>
            <a:ext cx="6506994" cy="323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483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9144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 &amp; Implementierung · 4.2 Prozesse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86868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86868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65760" y="11155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Automatische Kursüberwachung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435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/>
              <a:t>Timer-getriggert → alle Nutzer → alle Aktien → Limit </a:t>
            </a:r>
            <a:r>
              <a:rPr lang="en-US" sz="1000" i="1" dirty="0" err="1"/>
              <a:t>Prüfung</a:t>
            </a:r>
            <a:r>
              <a:rPr lang="en-US" sz="1000" i="1" dirty="0"/>
              <a:t> → ggf. </a:t>
            </a:r>
            <a:r>
              <a:rPr lang="en-US" sz="1000" i="1" dirty="0" err="1"/>
              <a:t>Benachrichtigung</a:t>
            </a:r>
            <a:r>
              <a:rPr lang="en-US" sz="1000" i="1" dirty="0"/>
              <a:t> &amp; </a:t>
            </a:r>
            <a:r>
              <a:rPr lang="en-US" sz="1000" i="1" dirty="0" err="1"/>
              <a:t>neue</a:t>
            </a:r>
            <a:r>
              <a:rPr lang="en-US" sz="1000" i="1" dirty="0"/>
              <a:t> Limits </a:t>
            </a:r>
            <a:r>
              <a:rPr lang="en-US" sz="1000" i="1" dirty="0" err="1"/>
              <a:t>setzen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28600" y="4389120"/>
            <a:ext cx="1664208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0"/>
          <p:cNvSpPr/>
          <p:nvPr/>
        </p:nvSpPr>
        <p:spPr>
          <a:xfrm>
            <a:off x="228600" y="4389120"/>
            <a:ext cx="1664208" cy="4572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/>
          <p:nvPr/>
        </p:nvSpPr>
        <p:spPr>
          <a:xfrm>
            <a:off x="301752" y="44439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</a:rPr>
              <a:t>⏱️ Timer-Event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01752" y="470916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Minütlich getriggert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993392" y="4389120"/>
            <a:ext cx="1664208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4"/>
          <p:cNvSpPr/>
          <p:nvPr/>
        </p:nvSpPr>
        <p:spPr>
          <a:xfrm>
            <a:off x="1993392" y="4389120"/>
            <a:ext cx="1664208" cy="4572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5"/>
          <p:cNvSpPr/>
          <p:nvPr/>
        </p:nvSpPr>
        <p:spPr>
          <a:xfrm>
            <a:off x="2066544" y="44439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</a:rPr>
              <a:t>👥 Nutzer ermitteln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066544" y="470916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Subscription-Service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758184" y="4389120"/>
            <a:ext cx="1664208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Shape 18"/>
          <p:cNvSpPr/>
          <p:nvPr/>
        </p:nvSpPr>
        <p:spPr>
          <a:xfrm>
            <a:off x="3758184" y="4389120"/>
            <a:ext cx="1664208" cy="4572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19"/>
          <p:cNvSpPr/>
          <p:nvPr/>
        </p:nvSpPr>
        <p:spPr>
          <a:xfrm>
            <a:off x="3831336" y="44439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</a:rPr>
              <a:t>📊 Kurs abfragen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3831336" y="470916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Stock-Service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522976" y="4389120"/>
            <a:ext cx="1664208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22"/>
          <p:cNvSpPr/>
          <p:nvPr/>
        </p:nvSpPr>
        <p:spPr>
          <a:xfrm>
            <a:off x="5522976" y="4389120"/>
            <a:ext cx="1664208" cy="4572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3"/>
          <p:cNvSpPr/>
          <p:nvPr/>
        </p:nvSpPr>
        <p:spPr>
          <a:xfrm>
            <a:off x="5596128" y="44439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</a:rPr>
              <a:t>🔔 Limit-Check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596128" y="470916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Alert-Service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287768" y="4389120"/>
            <a:ext cx="1664208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9" name="Shape 26"/>
          <p:cNvSpPr/>
          <p:nvPr/>
        </p:nvSpPr>
        <p:spPr>
          <a:xfrm>
            <a:off x="7287768" y="4389120"/>
            <a:ext cx="1664208" cy="4572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0" name="Text 27"/>
          <p:cNvSpPr/>
          <p:nvPr/>
        </p:nvSpPr>
        <p:spPr>
          <a:xfrm>
            <a:off x="7360920" y="44439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</a:rPr>
              <a:t>📨 Benachrichtigung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360920" y="470916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Bei Überschreitung</a:t>
            </a:r>
            <a:endParaRPr lang="en-US" sz="900" dirty="0"/>
          </a:p>
        </p:txBody>
      </p:sp>
      <p:pic>
        <p:nvPicPr>
          <p:cNvPr id="32" name="Grafik 31" descr="Ein Bild, das Diagramm, Reihe, Rechteck, Plan enthält.&#10;&#10;KI-generierte Inhalte können fehlerhaft sein.">
            <a:extLst>
              <a:ext uri="{FF2B5EF4-FFF2-40B4-BE49-F238E27FC236}">
                <a16:creationId xmlns:a16="http://schemas.microsoft.com/office/drawing/2014/main" id="{CA4D4B59-D98D-54F3-E692-9EB9E6241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118" y="1444752"/>
            <a:ext cx="8560340" cy="275697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943600" y="-731520"/>
            <a:ext cx="3657600" cy="3657600"/>
          </a:xfrm>
          <a:prstGeom prst="ellipse">
            <a:avLst/>
          </a:prstGeom>
          <a:solidFill>
            <a:srgbClr val="0D204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548640" cy="32004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914400" cy="914400"/>
          </a:xfrm>
          <a:prstGeom prst="ellipse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A1628"/>
                </a:solidFill>
              </a:rPr>
              <a:t>▶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54480" y="26060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BA3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Anwendung live erleben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2560320" cy="685800"/>
          </a:xfrm>
          <a:prstGeom prst="rect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54864" cy="68580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Aktie abonnieren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3840480"/>
            <a:ext cx="2560320" cy="685800"/>
          </a:xfrm>
          <a:prstGeom prst="rect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3291840" y="3840480"/>
            <a:ext cx="54864" cy="68580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3474720" y="38404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Kurs abfragen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3840480"/>
            <a:ext cx="2560320" cy="685800"/>
          </a:xfrm>
          <a:prstGeom prst="rect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6126480" y="3840480"/>
            <a:ext cx="54864" cy="68580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6309360" y="38404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Alert auslösen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365760" y="201168"/>
            <a:ext cx="502920" cy="347472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2651760" cy="5486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13898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Service-Komposition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187452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Klare Trennung der Services vereinfacht Debugging und Wartung erheblich</a:t>
            </a:r>
          </a:p>
        </p:txBody>
      </p:sp>
      <p:sp>
        <p:nvSpPr>
          <p:cNvPr id="12" name="Shape 10"/>
          <p:cNvSpPr/>
          <p:nvPr/>
        </p:nvSpPr>
        <p:spPr>
          <a:xfrm>
            <a:off x="3246120" y="12801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3246120" y="1280160"/>
            <a:ext cx="2651760" cy="5486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3337560" y="13716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931920" y="13898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Externe APIs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55848" y="187452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Rate Limits und Verfügbarkeit externer APIs erfordern robuste Fehlerbehandlung</a:t>
            </a:r>
          </a:p>
        </p:txBody>
      </p:sp>
      <p:sp>
        <p:nvSpPr>
          <p:cNvPr id="17" name="Shape 15"/>
          <p:cNvSpPr/>
          <p:nvPr/>
        </p:nvSpPr>
        <p:spPr>
          <a:xfrm>
            <a:off x="6126480" y="12801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6126480" y="1280160"/>
            <a:ext cx="2651760" cy="54864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6217920" y="13716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138988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BPMN-First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36208" y="187452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Prozessmodellierung vor der Implementierung spart Zeit und vermeidet Missverständnisse</a:t>
            </a:r>
          </a:p>
        </p:txBody>
      </p:sp>
      <p:sp>
        <p:nvSpPr>
          <p:cNvPr id="22" name="Shape 20"/>
          <p:cNvSpPr/>
          <p:nvPr/>
        </p:nvSpPr>
        <p:spPr>
          <a:xfrm>
            <a:off x="365760" y="306324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365760" y="3063240"/>
            <a:ext cx="2651760" cy="54864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457200" y="31546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51560" y="31729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Teamarbeit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" y="365760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Klare Aufgabenverteilung und regelmäßige Absprachen sind entscheidend</a:t>
            </a:r>
          </a:p>
        </p:txBody>
      </p:sp>
      <p:sp>
        <p:nvSpPr>
          <p:cNvPr id="27" name="Shape 25"/>
          <p:cNvSpPr/>
          <p:nvPr/>
        </p:nvSpPr>
        <p:spPr>
          <a:xfrm>
            <a:off x="3246120" y="306324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3246120" y="3063240"/>
            <a:ext cx="2651760" cy="54864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3337560" y="31546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🐳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931920" y="31729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Docker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55848" y="365760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Containerisierung erleichtert Deployment und sorgt für konsistente Umgebungen</a:t>
            </a:r>
          </a:p>
        </p:txBody>
      </p:sp>
      <p:sp>
        <p:nvSpPr>
          <p:cNvPr id="32" name="Shape 30"/>
          <p:cNvSpPr/>
          <p:nvPr/>
        </p:nvSpPr>
        <p:spPr>
          <a:xfrm>
            <a:off x="6126480" y="306324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3" name="Shape 31"/>
          <p:cNvSpPr/>
          <p:nvPr/>
        </p:nvSpPr>
        <p:spPr>
          <a:xfrm>
            <a:off x="6126480" y="3063240"/>
            <a:ext cx="2651760" cy="54864"/>
          </a:xfrm>
          <a:prstGeom prst="rect">
            <a:avLst/>
          </a:prstGeom>
          <a:solidFill>
            <a:srgbClr val="1E90FF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4" name="Text 32"/>
          <p:cNvSpPr/>
          <p:nvPr/>
        </p:nvSpPr>
        <p:spPr>
          <a:xfrm>
            <a:off x="6217920" y="31546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812280" y="31729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Quarkus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36208" y="365760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Schnelle Startzeiten und geringer Ressourcenverbrauch überzeugen im Praxiseinsatz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A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486400" y="914400"/>
            <a:ext cx="4114800" cy="4114800"/>
          </a:xfrm>
          <a:prstGeom prst="ellipse">
            <a:avLst/>
          </a:prstGeom>
          <a:solidFill>
            <a:srgbClr val="13204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6400800" y="1645920"/>
            <a:ext cx="2560320" cy="2560320"/>
          </a:xfrm>
          <a:prstGeom prst="ellipse">
            <a:avLst/>
          </a:prstGeom>
          <a:solidFill>
            <a:srgbClr val="0D204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Vielen Dank!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FA5"/>
                </a:solidFill>
              </a:rPr>
              <a:t>John Hohn  ·  Simon Hopfhauer  ·  Tilman Voit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4070"/>
                </a:solidFill>
              </a:rPr>
              <a:t>DHBW Mosbach ·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677</Words>
  <Application>Microsoft Office PowerPoint</Application>
  <PresentationFormat>Bildschirmpräsentation (16:9)</PresentationFormat>
  <Paragraphs>199</Paragraphs>
  <Slides>17</Slides>
  <Notes>17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Hopfhauer, Simon</cp:lastModifiedBy>
  <cp:revision>36</cp:revision>
  <dcterms:created xsi:type="dcterms:W3CDTF">2026-03-10T14:36:51Z</dcterms:created>
  <dcterms:modified xsi:type="dcterms:W3CDTF">2026-03-11T10:23:40Z</dcterms:modified>
</cp:coreProperties>
</file>